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" y="2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201168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C9A84C"/>
                </a:solidFill>
                <a:latin typeface="Courier New"/>
              </a:rPr>
              <a:t>FINAL PROJECT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0">
                <a:solidFill>
                  <a:srgbClr val="E8EDF5"/>
                </a:solidFill>
                <a:latin typeface="Georgia"/>
              </a:rPr>
              <a:t>PrimaryV1 Meta-Labeling
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A8B8CC"/>
                </a:solidFill>
                <a:latin typeface="Georgia"/>
              </a:rPr>
              <a:t>Executive Management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6400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8B8CC"/>
                </a:solidFill>
                <a:latin typeface="Arial"/>
              </a:rPr>
              <a:t>The primary model: first decision layer converting macro and cross-asset
signals into BUY / HOLD / SELL regime states for the meta-labeling pipeline.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"/>
            <a:ext cx="36576" cy="2926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2560320" cy="105156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13308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EA4BD"/>
                </a:solidFill>
                <a:latin typeface="Courier New"/>
              </a:rPr>
              <a:t>SHARPE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9A84C"/>
                </a:solidFill>
                <a:latin typeface="Georgia"/>
              </a:rPr>
              <a:t>0.838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3659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Best in benchmark 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4023360"/>
            <a:ext cx="2560320" cy="105156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29000" y="402336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413308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EA4BD"/>
                </a:solidFill>
                <a:latin typeface="Courier New"/>
              </a:rPr>
              <a:t>ANNUALIZED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3434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9A84C"/>
                </a:solidFill>
                <a:latin typeface="Georgia"/>
              </a:rPr>
              <a:t>6.33%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73659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Full sample 1996–2025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023360"/>
            <a:ext cx="2560320" cy="105156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413308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EA4BD"/>
                </a:solidFill>
                <a:latin typeface="Courier New"/>
              </a:rPr>
              <a:t>MAX DRAWDOWN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3434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9A84C"/>
                </a:solidFill>
                <a:latin typeface="Georgia"/>
              </a:rPr>
              <a:t>-22.08%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73659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dirty="0">
                <a:solidFill>
                  <a:srgbClr val="A8B8CC"/>
                </a:solidFill>
                <a:latin typeface="Arial"/>
              </a:rPr>
              <a:t>Shallowest vs all peers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39" y="4023360"/>
            <a:ext cx="2560320" cy="10515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06839" y="402336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3999" y="413308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EA4BD"/>
                </a:solidFill>
                <a:latin typeface="Courier New"/>
              </a:rP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43434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E8EDF5"/>
                </a:solidFill>
                <a:latin typeface="Georgia"/>
              </a:rPr>
              <a:t>65.08%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9" y="473659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Monthly positive returns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949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8EA4BD"/>
                </a:solidFill>
                <a:latin typeface="Courier New"/>
              </a:rPr>
              <a:t>February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8559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00</a:t>
            </a:r>
            <a:r>
              <a:rPr sz="1100" b="0">
                <a:solidFill>
                  <a:srgbClr val="8EA4BD"/>
                </a:solidFill>
                <a:latin typeface="Courier New"/>
              </a:rPr>
              <a:t>  —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>
                <a:solidFill>
                  <a:srgbClr val="E8EDF5"/>
                </a:solidFill>
                <a:latin typeface="Georgia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Strategy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105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How PrimaryV1 works — 4-factor Z-score composite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688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249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Key performance highlights &amp; KPI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4564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83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Indicators Deep Dive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393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The 4 real macro indicators explained in detail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3708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976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Composite Score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537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Continuous Z-score aggregation &amp; signal generation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120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2852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212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Benchmark Universe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681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The 4 benchmarks &amp; why they matter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5544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16276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554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Benchmark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8105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PrimaryV1 vs industry standards — side by side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4688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25420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4688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Signal Distribution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7249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BUY/HOLD/SELL counts &amp; benchmark excess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3832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34564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383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Performance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6393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Full metrics: Sharpe, drawdown, correlation, info ratio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2976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43708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976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Methodology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5537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Walk-forward, cost stress, integrity checks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52120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52852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212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681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Strategic recommendation &amp; next steps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3082228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01</a:t>
            </a:r>
            <a:r>
              <a:rPr sz="1100" b="0">
                <a:solidFill>
                  <a:srgbClr val="8EA4BD"/>
                </a:solidFill>
                <a:latin typeface="Courier New"/>
              </a:rPr>
              <a:t>  —  STRATEGY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How PrimaryV1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8B8CC"/>
                </a:solidFill>
                <a:latin typeface="Arial"/>
              </a:rPr>
              <a:t>PrimaryV1 utilizes a continuous Z-Score Composite approach to regime detection — not majority voting.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1828800"/>
            <a:ext cx="2011680" cy="20116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447" y="182880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9175" y="1965960"/>
            <a:ext cx="17922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1. LISTEN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175" y="2331720"/>
            <a:ext cx="179222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Monitor 4 macro signals
monthly: equity trend,
commodity trend, credit
conditions, risk appetite.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9415" y="256032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9A84C"/>
                </a:solidFill>
                <a:latin typeface="Courier New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9727" y="1828800"/>
            <a:ext cx="2011680" cy="20116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49727" y="182880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9455" y="1965960"/>
            <a:ext cx="17922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2. 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9455" y="2331720"/>
            <a:ext cx="179222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Each indicator is
z-scored against an
expanding historical
window — zero leakage.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9695" y="256032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9A84C"/>
                </a:solidFill>
                <a:latin typeface="Courier New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90007" y="1828800"/>
            <a:ext cx="2011680" cy="20116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90007" y="182880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9735" y="1965960"/>
            <a:ext cx="17922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3. COMPOSITE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9735" y="2331720"/>
            <a:ext cx="179222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Normalized signals are
aggregated into a single
continuous Composite
Score.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9975" y="256032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9A84C"/>
                </a:solidFill>
                <a:latin typeface="Courier New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0287" y="1828800"/>
            <a:ext cx="2011680" cy="20116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30287" y="182880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0015" y="1965960"/>
            <a:ext cx="17922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4.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0015" y="2331720"/>
            <a:ext cx="179222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Score &gt; 0.0001 = BUY
Score &lt; -0.0001 = SELL
Otherwise = 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0255" y="256032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9A84C"/>
                </a:solidFill>
                <a:latin typeface="Courier New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70567" y="1828800"/>
            <a:ext cx="2011680" cy="20116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70567" y="182880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80295" y="1965960"/>
            <a:ext cx="17922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5. ALLOCATE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0295" y="2331720"/>
            <a:ext cx="179222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BUY → equities &amp;
commodities (risk-on)
SELL → treasuries
(defensive)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A8B8CC"/>
                </a:solidFill>
                <a:latin typeface="Courier New"/>
              </a:rPr>
              <a:t>THE 4-INDICATOR STACK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26280"/>
            <a:ext cx="36576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4562856"/>
            <a:ext cx="329184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9A84C"/>
                </a:solidFill>
                <a:latin typeface="Courier New"/>
              </a:rPr>
              <a:t>I1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5262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SPX Trend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709160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Equity direction — price vs 12M moving average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526280"/>
            <a:ext cx="36576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27648" y="4562856"/>
            <a:ext cx="329184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9A84C"/>
                </a:solidFill>
                <a:latin typeface="Courier New"/>
              </a:rPr>
              <a:t>I2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5262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BCOM Trend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709160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Commodity macro confirmation — cross-asset risk tone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983480"/>
            <a:ext cx="36576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5020056"/>
            <a:ext cx="329184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9A84C"/>
                </a:solidFill>
                <a:latin typeface="Courier New"/>
              </a:rPr>
              <a:t>I3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49834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Credit vs Rates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166360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Risk appetite via Corp Bonds vs Treasury 10Y spreads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4983480"/>
            <a:ext cx="36576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27648" y="5020056"/>
            <a:ext cx="329184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9A84C"/>
                </a:solidFill>
                <a:latin typeface="Courier New"/>
              </a:rPr>
              <a:t>I4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49834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Risk Breadth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166360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Cross-asset participation — broad risk basket vs treasuries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0080" y="5577840"/>
            <a:ext cx="4572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KEY INSIGHT: PrimaryV1 does not use majority voting. It normalizes 4 inputs into a continuous Composite Score
using an expanding Z-score window, generating a unified directional edge penalized for correlation.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2445863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02</a:t>
            </a:r>
            <a:r>
              <a:rPr sz="1100" b="0">
                <a:solidFill>
                  <a:srgbClr val="8EA4BD"/>
                </a:solidFill>
                <a:latin typeface="Courier New"/>
              </a:rPr>
              <a:t>  —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PrimaryV1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ANNUALIZED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9A84C"/>
                </a:solidFill>
                <a:latin typeface="Georgia"/>
              </a:rPr>
              <a:t>6.33%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Full sample 1996–2025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4813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SHARPE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916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9A84C"/>
                </a:solidFill>
                <a:latin typeface="Georgia"/>
              </a:rPr>
              <a:t>0.838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848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#1 in benchmark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4813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MAX DRAWDOWN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916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9A84C"/>
                </a:solidFill>
                <a:latin typeface="Georgia"/>
              </a:rPr>
              <a:t>-22.08%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848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Shallowest vs all peers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39" y="13716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39" y="13716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3999" y="14813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16916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E8EDF5"/>
                </a:solidFill>
                <a:latin typeface="Georgia"/>
              </a:rPr>
              <a:t>65.08%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20848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Monthly positive returns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7432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27432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28529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ANNUALIZED VOL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E8EDF5"/>
                </a:solidFill>
                <a:latin typeface="Georgia"/>
              </a:rPr>
              <a:t>7.70%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4564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Low vs equity peers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27432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29000" y="27432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66160" y="28529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CUMULATIVE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E8EDF5"/>
                </a:solidFill>
                <a:latin typeface="Georgia"/>
              </a:rPr>
              <a:t>524.02%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4564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Net equity growth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7432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27432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28529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CALMAR RATIO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E8EDF5"/>
                </a:solidFill>
                <a:latin typeface="Georgia"/>
              </a:rPr>
              <a:t>0.287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4564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Return / |drawdown|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39" y="27432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06839" y="27432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3999" y="28529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AVG TURNOVER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3999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E8EDF5"/>
                </a:solidFill>
                <a:latin typeface="Georgia"/>
              </a:rPr>
              <a:t>0.189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3999" y="34564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Monthly rebalancing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297680"/>
            <a:ext cx="1088136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" y="4297680"/>
            <a:ext cx="45720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438912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PrimaryV1 delivers the highest risk-adjusted return in its benchmark group with the lowest maximum drawdown
— across a 29-year backtested period (1996–2025). Ending net equity: 6.240x.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26244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03</a:t>
            </a:r>
            <a:r>
              <a:rPr sz="1100" b="0">
                <a:solidFill>
                  <a:srgbClr val="8EA4BD"/>
                </a:solidFill>
                <a:latin typeface="Courier New"/>
              </a:rPr>
              <a:t>  —  INDICATORS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The 4-Indicator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8B8CC"/>
                </a:solidFill>
                <a:latin typeface="Arial"/>
              </a:rPr>
              <a:t>Simple, robust macro metrics (price/SMA, yield spreads) designed to prevent overfitting. No complex predictive models.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03520" cy="16002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035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41148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4114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C9A84C"/>
                </a:solidFill>
                <a:latin typeface="Courier New"/>
              </a:rPr>
              <a:t>I1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91639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SPX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38528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Equity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5029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Measures how far SPX sits above or below its 12-month moving average. The core equity trend signal — when price is above the MA, the regime is constructive for risk assets.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54480"/>
            <a:ext cx="5303520" cy="16002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554480"/>
            <a:ext cx="530352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92240" y="1737360"/>
            <a:ext cx="41148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755648"/>
            <a:ext cx="4114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4A8CDB"/>
                </a:solidFill>
                <a:latin typeface="Courier New"/>
              </a:rPr>
              <a:t>I2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691639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BCOM 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938528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Commodity Macro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5029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Bloomberg Commodity Index trend counterpart capturing cross-asset risk tone. Confirms whether the macro environment supports risk exposure beyond equities alone.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29000"/>
            <a:ext cx="5303520" cy="16002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429000"/>
            <a:ext cx="5303520" cy="36576"/>
          </a:xfrm>
          <a:prstGeom prst="rect">
            <a:avLst/>
          </a:prstGeom>
          <a:solidFill>
            <a:srgbClr val="E89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7240" y="3611880"/>
            <a:ext cx="41148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E89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630168"/>
            <a:ext cx="4114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E8982A"/>
                </a:solidFill>
                <a:latin typeface="Courier New"/>
              </a:rPr>
              <a:t>I3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5661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Credit vs Rates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813048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Risk Appetite Gauge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14800"/>
            <a:ext cx="5029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Checks whether corporate bonds outperform Treasuries — a direct measure of risk appetite. Narrowing credit spreads signal falling default risk and a supportive equity environment.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429000"/>
            <a:ext cx="5303520" cy="16002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55080" y="3429000"/>
            <a:ext cx="5303520" cy="36576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92240" y="3611880"/>
            <a:ext cx="41148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3630168"/>
            <a:ext cx="4114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I4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5661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Risk Breadth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813048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Cross-Asset Participation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114800"/>
            <a:ext cx="5029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Compares broad risk basket returns versus Treasury returns. Measures whether multiple asset classes are participating in the risk-on move, not just a single market.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2120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INDICATOR → SPX FORWARD CORRELATION (SPEARMAN)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532120"/>
            <a:ext cx="201168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19" y="55778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A8B8CC"/>
                </a:solidFill>
                <a:latin typeface="Courier New"/>
              </a:rPr>
              <a:t>spx_trend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19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A8B8CC"/>
                </a:solidFill>
                <a:latin typeface="Courier New"/>
              </a:rPr>
              <a:t>-0.006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5532120"/>
            <a:ext cx="201168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26080" y="55778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A8B8CC"/>
                </a:solidFill>
                <a:latin typeface="Courier New"/>
              </a:rPr>
              <a:t>bcom_trend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E05B5B"/>
                </a:solidFill>
                <a:latin typeface="Courier New"/>
              </a:rPr>
              <a:t>-0.125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5532120"/>
            <a:ext cx="201168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20640" y="55778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A8B8CC"/>
                </a:solidFill>
                <a:latin typeface="Courier New"/>
              </a:rPr>
              <a:t>credit_vs_rates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3DBA7E"/>
                </a:solidFill>
                <a:latin typeface="Courier New"/>
              </a:rPr>
              <a:t>+0.010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5532120"/>
            <a:ext cx="201168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0" y="55778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A8B8CC"/>
                </a:solidFill>
                <a:latin typeface="Courier New"/>
              </a:rPr>
              <a:t>risk_breadth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E05B5B"/>
                </a:solidFill>
                <a:latin typeface="Courier New"/>
              </a:rPr>
              <a:t>-0.052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5532120"/>
            <a:ext cx="201168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09760" y="55778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A8B8CC"/>
                </a:solidFill>
                <a:latin typeface="Courier New"/>
              </a:rPr>
              <a:t>composite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E05B5B"/>
                </a:solidFill>
                <a:latin typeface="Courier New"/>
              </a:rPr>
              <a:t>-0.076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2431379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04</a:t>
            </a:r>
            <a:r>
              <a:rPr sz="1100" b="0">
                <a:solidFill>
                  <a:srgbClr val="8EA4BD"/>
                </a:solidFill>
                <a:latin typeface="Courier New"/>
              </a:rPr>
              <a:t>  —  COMPOSITE SCORE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How the Signal is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8B8CC"/>
                </a:solidFill>
                <a:latin typeface="Arial"/>
              </a:rPr>
              <a:t>The model aggregates the normalized z-scores of the 4 indicators into a composite score heavily penalized for
correlation, generating a unified directional edge. There is no majority voting — the output is a continuous score.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088136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45720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59" y="2331720"/>
            <a:ext cx="77724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350008"/>
            <a:ext cx="77724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9A84C"/>
                </a:solidFill>
                <a:latin typeface="Courier New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0428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Z-Score Normalization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78608"/>
            <a:ext cx="9418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Each of the 4 indicators is z-scored using an expanding historical window. This ensures all signals are on a comparable scale and strictly causal (no future data used).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1088136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45720" cy="1097280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59" y="3611879"/>
            <a:ext cx="77724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630168"/>
            <a:ext cx="77724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4A8CDB"/>
                </a:solidFill>
                <a:latin typeface="Courier New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8444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Composite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58768"/>
            <a:ext cx="9418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>
                <a:solidFill>
                  <a:srgbClr val="A8B8CC"/>
                </a:solidFill>
                <a:latin typeface="Arial"/>
              </a:rPr>
              <a:t>The normalized z-scores are combined into a single Composite Score. The aggregation method penalizes correlated signals, ensuring the composite reflects genuine diversified macro information.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54879"/>
            <a:ext cx="1088136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754879"/>
            <a:ext cx="45720" cy="1097280"/>
          </a:xfrm>
          <a:prstGeom prst="rect">
            <a:avLst/>
          </a:prstGeom>
          <a:solidFill>
            <a:srgbClr val="E89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59" y="4892040"/>
            <a:ext cx="77724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E89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4910327"/>
            <a:ext cx="77724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E8982A"/>
                </a:solidFill>
                <a:latin typeface="Courier New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864607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Threshold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138927"/>
            <a:ext cx="9418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>
                <a:solidFill>
                  <a:srgbClr val="A8B8CC"/>
                </a:solidFill>
                <a:latin typeface="Arial"/>
              </a:rPr>
              <a:t>Score &gt; +0.0001  →  BUY (Risk-On: equities &amp; commodities)
Score &lt; -0.0001   →  SELL (Defensive: treasuries)
Otherwise             →  HOLD (maintain allocation)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5216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SIGNAL DISTRIBUTION (1996–2025)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126480"/>
            <a:ext cx="640080" cy="2743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144768"/>
            <a:ext cx="6400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3DBA7E"/>
                </a:solidFill>
                <a:latin typeface="Courier New"/>
              </a:rPr>
              <a:t>BUY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126480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197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6263640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Courier New"/>
              </a:rPr>
              <a:t>54.7%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6126480"/>
            <a:ext cx="640080" cy="2743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E0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83280" y="6144768"/>
            <a:ext cx="6400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E05B5B"/>
                </a:solidFill>
                <a:latin typeface="Courier New"/>
              </a:rPr>
              <a:t>SELL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126480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148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263640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Courier New"/>
              </a:rPr>
              <a:t>41.1%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6126480"/>
            <a:ext cx="640080" cy="2743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6144768"/>
            <a:ext cx="6400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4A8CDB"/>
                </a:solidFill>
                <a:latin typeface="Courier New"/>
              </a:rPr>
              <a:t>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6126480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263640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Courier New"/>
              </a:rPr>
              <a:t>4.1%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126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9A84C"/>
                </a:solidFill>
                <a:latin typeface="Courier New"/>
              </a:rPr>
              <a:t>95.8% active trade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3247685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05</a:t>
            </a:r>
            <a:r>
              <a:rPr sz="1100" b="0">
                <a:solidFill>
                  <a:srgbClr val="8EA4BD"/>
                </a:solidFill>
                <a:latin typeface="Courier New"/>
              </a:rPr>
              <a:t>  —  BENCHMARK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The Four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8B8CC"/>
                </a:solidFill>
                <a:latin typeface="Arial"/>
              </a:rPr>
              <a:t>Each benchmark isolates a simpler way to hold risk — PrimaryV1 must clear every bar.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49240" cy="19659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34924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45720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45720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4A8CDB"/>
                </a:solidFill>
                <a:latin typeface="Courier New"/>
              </a:rPr>
              <a:t>B01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01368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EqualWeight25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25% in each asset every month with no timing.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5074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Arial"/>
              </a:rPr>
              <a:t>Reference for a neutral, mechanical allocator using the same asset menu.
Separates universe effect from timing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4.78%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79" y="31089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0.688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33375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Sharpe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1089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-26.90%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3375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EA4BD"/>
                </a:solidFill>
                <a:latin typeface="Courier New"/>
              </a:rPr>
              <a:t>Max DD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49240" cy="19659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1691640"/>
            <a:ext cx="534924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37960" y="1828800"/>
            <a:ext cx="45720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847088"/>
            <a:ext cx="45720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A8B8CC"/>
                </a:solidFill>
                <a:latin typeface="Courier New"/>
              </a:rPr>
              <a:t>B02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801368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Arial"/>
              </a:rPr>
              <a:t>Buy &amp; Hold SPX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148840"/>
            <a:ext cx="5074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A8B8CC"/>
                </a:solidFill>
                <a:latin typeface="Arial"/>
              </a:rPr>
              <a:t>100% SPX, continuously invested.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468880"/>
            <a:ext cx="5074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Arial"/>
              </a:rPr>
              <a:t>Pure equity beta benchmark to compare against broad market drift.
Anchors performance to directional equity exposure.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1089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8.27%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375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Return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1089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0.599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3375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1089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-52.56%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33375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Max DD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886200"/>
            <a:ext cx="5349240" cy="19659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3886200"/>
            <a:ext cx="534924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77240" y="4023360"/>
            <a:ext cx="45720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041648"/>
            <a:ext cx="45720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4A8CDB"/>
                </a:solidFill>
                <a:latin typeface="Courier New"/>
              </a:rPr>
              <a:t>B03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995928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Arial"/>
              </a:rPr>
              <a:t>60/40 Portfolio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343400"/>
            <a:ext cx="5074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A8B8CC"/>
                </a:solidFill>
                <a:latin typeface="Arial"/>
              </a:rPr>
              <a:t>60% SPX + 40% Treasury, static rebalance.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663440"/>
            <a:ext cx="5074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Arial"/>
              </a:rPr>
              <a:t>Institutional baseline for balanced growth/defense trade-off.
Classic diversification without tactical overlays.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3035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6.94%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5321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79" y="53035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0.768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79" y="55321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Sharpe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53035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-30.78%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55321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Max DD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886200"/>
            <a:ext cx="5349240" cy="19659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3886200"/>
            <a:ext cx="534924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537960" y="4023360"/>
            <a:ext cx="45720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4041648"/>
            <a:ext cx="45720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A8B8CC"/>
                </a:solidFill>
                <a:latin typeface="Courier New"/>
              </a:rPr>
              <a:t>B04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3995928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SimpleTrend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343400"/>
            <a:ext cx="5074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8B8CC"/>
                </a:solidFill>
                <a:latin typeface="Arial"/>
              </a:rPr>
              <a:t>SPX trend rule; shift toward Treasury in risk-off regimes.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4663440"/>
            <a:ext cx="5074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Arial"/>
              </a:rPr>
              <a:t>Low-complexity tactical comparator closest in spirit to regime switching.
Tests whether PrimaryV1 adds value beyond a single trend rule.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53035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8.62%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55321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Return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3035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0.708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5321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Sharpe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53035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-26.72%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55321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Max DD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8EA4BD"/>
                </a:solidFill>
                <a:latin typeface="Courier New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320634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06</a:t>
            </a:r>
            <a:r>
              <a:rPr sz="1100" b="0">
                <a:solidFill>
                  <a:srgbClr val="8EA4BD"/>
                </a:solidFill>
                <a:latin typeface="Courier New"/>
              </a:rPr>
              <a:t>  —  BENCHMARK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PrimaryV1 vs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EA4BD"/>
                          </a:solidFill>
                          <a:latin typeface="Courier New"/>
                        </a:rPr>
                        <a:t>Strategy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EA4BD"/>
                          </a:solidFill>
                          <a:latin typeface="Courier New"/>
                        </a:rPr>
                        <a:t>Ann. Return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EA4BD"/>
                          </a:solidFill>
                          <a:latin typeface="Courier New"/>
                        </a:rPr>
                        <a:t>Ann. Vol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EA4BD"/>
                          </a:solidFill>
                          <a:latin typeface="Courier New"/>
                        </a:rPr>
                        <a:t>Sharpe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EA4BD"/>
                          </a:solidFill>
                          <a:latin typeface="Courier New"/>
                        </a:rPr>
                        <a:t>Max Drawdown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EA4BD"/>
                          </a:solidFill>
                          <a:latin typeface="Courier New"/>
                        </a:rPr>
                        <a:t>Calmar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8B8CC"/>
                          </a:solidFill>
                          <a:latin typeface="Arial"/>
                        </a:rPr>
                        <a:t>EqualWeight25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4.78%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7.18%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0.688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-26.90%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0.178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8B8CC"/>
                          </a:solidFill>
                          <a:latin typeface="Arial"/>
                        </a:rPr>
                        <a:t>Buy &amp; Hold SPX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8.27%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15.28%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0.599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-52.56%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0.157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8B8CC"/>
                          </a:solidFill>
                          <a:latin typeface="Arial"/>
                        </a:rPr>
                        <a:t>60/40 Blend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6.94%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9.33%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0.768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-30.78%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0.225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8B8CC"/>
                          </a:solidFill>
                          <a:latin typeface="Arial"/>
                        </a:rPr>
                        <a:t>SimpleTrend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8.62%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12.91%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0.708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-26.72%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0.323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9A84C"/>
                          </a:solidFill>
                          <a:latin typeface="Arial"/>
                        </a:rPr>
                        <a:t>PrimaryV1  ★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9A84C"/>
                          </a:solidFill>
                          <a:latin typeface="Courier New"/>
                        </a:rPr>
                        <a:t>6.33%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9A84C"/>
                          </a:solidFill>
                          <a:latin typeface="Courier New"/>
                        </a:rPr>
                        <a:t>7.70%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9A84C"/>
                          </a:solidFill>
                          <a:latin typeface="Courier New"/>
                        </a:rPr>
                        <a:t>0.838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9A84C"/>
                          </a:solidFill>
                          <a:latin typeface="Courier New"/>
                        </a:rPr>
                        <a:t>-22.08%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dirty="0">
                          <a:solidFill>
                            <a:srgbClr val="C9A84C"/>
                          </a:solidFill>
                          <a:latin typeface="Courier New"/>
                        </a:rPr>
                        <a:t>0.287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4206240"/>
            <a:ext cx="45720" cy="7315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KEY TAKEAWAYS: PrimaryV1 leads on Sharpe (0.838) and Max Drawdown (-22.08%) — delivering the best
risk-adjusted return with the least peak-to-trough loss. BuyHold SPX has higher raw returns (8.27%) but
suffers -52.56% drawdowns — nearly 2.4x worse than PrimaryV1.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ADDITIONAL 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532120"/>
            <a:ext cx="329184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5577840"/>
            <a:ext cx="3017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Arial"/>
              </a:rPr>
              <a:t>PrimaryV1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Turnover: 0.189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80644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Cum. Return: 524.02%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5532120"/>
            <a:ext cx="329184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5577840"/>
            <a:ext cx="3017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Arial"/>
              </a:rPr>
              <a:t>SimpleTrend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80644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Turnover: 0.081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580644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Cum. Return: N/A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5532120"/>
            <a:ext cx="329184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5577840"/>
            <a:ext cx="3017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Arial"/>
              </a:rPr>
              <a:t>Others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580644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Turnover: 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580644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Cum. Return: 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2709411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07</a:t>
            </a:r>
            <a:r>
              <a:rPr sz="1100" b="0">
                <a:solidFill>
                  <a:srgbClr val="8EA4BD"/>
                </a:solidFill>
                <a:latin typeface="Courier New"/>
              </a:rPr>
              <a:t>  —  SIGNAL DISTRIBUTION &amp; BENCHMARK EXCESS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Signal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383280" cy="13716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383280" cy="36576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17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3DBA7E"/>
                </a:solidFill>
                <a:latin typeface="Courier New"/>
              </a:rPr>
              <a:t>BUY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373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0">
                <a:solidFill>
                  <a:srgbClr val="E8EDF5"/>
                </a:solidFill>
                <a:latin typeface="Georgia"/>
              </a:rPr>
              <a:t>197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Courier New"/>
              </a:rPr>
              <a:t>54.7%  •  Risk-On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13716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3383280" cy="36576"/>
          </a:xfrm>
          <a:prstGeom prst="rect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E05B5B"/>
                </a:solidFill>
                <a:latin typeface="Courier New"/>
              </a:rPr>
              <a:t>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0">
                <a:solidFill>
                  <a:srgbClr val="E8EDF5"/>
                </a:solidFill>
                <a:latin typeface="Georgia"/>
              </a:rPr>
              <a:t>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Courier New"/>
              </a:rPr>
              <a:t>41.1%  •  Defensive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9" y="1280160"/>
            <a:ext cx="3383280" cy="13716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9" y="1280160"/>
            <a:ext cx="338328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39" y="1417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4A8CDB"/>
                </a:solidFill>
                <a:latin typeface="Courier New"/>
              </a:rPr>
              <a:t>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17373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0">
                <a:solidFill>
                  <a:srgbClr val="E8EDF5"/>
                </a:solidFill>
                <a:latin typeface="Georgia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2194560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Courier New"/>
              </a:rPr>
              <a:t>4.1%  •  Maintain allocation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880360"/>
            <a:ext cx="292608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28986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9A84C"/>
                </a:solidFill>
                <a:latin typeface="Courier New"/>
              </a:rPr>
              <a:t>95.8% Active Trade Acceptance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290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8EA4BD"/>
                </a:solidFill>
                <a:latin typeface="Courier New"/>
              </a:rPr>
              <a:t>EXCESS VS EQUALWEIGHT25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39"/>
            <a:ext cx="2560320" cy="9144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840479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Arial"/>
              </a:rPr>
              <a:t>BuyHoldSPX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6907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DBA7E"/>
                </a:solidFill>
                <a:latin typeface="Courier New"/>
              </a:rPr>
              <a:t>+4.21%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07407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226 won / 132 lost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749039"/>
            <a:ext cx="2560320" cy="9144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3840479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Arial"/>
              </a:rPr>
              <a:t>60/40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06907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DBA7E"/>
                </a:solidFill>
                <a:latin typeface="Courier New"/>
              </a:rPr>
              <a:t>+2.22%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407407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208 won / 150 lost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749039"/>
            <a:ext cx="2560320" cy="9144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3840479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Arial"/>
              </a:rPr>
              <a:t>SimpleTrend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06907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DBA7E"/>
                </a:solidFill>
                <a:latin typeface="Courier New"/>
              </a:rPr>
              <a:t>+4.20%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407407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220 won / 138 lost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39" y="3749039"/>
            <a:ext cx="2560320" cy="91440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3999" y="3840479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Arial"/>
              </a:rPr>
              <a:t>PrimaryV1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3999" y="406907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DBA7E"/>
                </a:solidFill>
                <a:latin typeface="Courier New"/>
              </a:rPr>
              <a:t>+1.51%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3999" y="4407407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188 won / 156 lost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920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8EA4BD"/>
                </a:solidFill>
                <a:latin typeface="Courier New"/>
              </a:rPr>
              <a:t>BENCHMARK EXCESS METRICS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212080"/>
            <a:ext cx="5303520" cy="10515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5212080"/>
            <a:ext cx="45720" cy="1051560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525780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CORRELATION TO EQUALWEIGHT25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46811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E8EDF5"/>
                </a:solidFill>
                <a:latin typeface="Georgia"/>
              </a:rPr>
              <a:t>0.528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98932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Partial decoupling — driven by multi-signal composite, not just SPX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5212080"/>
            <a:ext cx="5349240" cy="10515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72200" y="5212080"/>
            <a:ext cx="45720" cy="10515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55080" y="525780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INFORMATION RATIO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46811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C9A84C"/>
                </a:solidFill>
                <a:latin typeface="Georgia"/>
              </a:rPr>
              <a:t>0.71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98932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Active return vs tracking error — confirms consistent alpha generation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21393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08</a:t>
            </a:r>
            <a:r>
              <a:rPr sz="1100" b="0">
                <a:solidFill>
                  <a:srgbClr val="8EA4BD"/>
                </a:solidFill>
                <a:latin typeface="Courier New"/>
              </a:rPr>
              <a:t>  —  PERFORMANCE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Full Metrics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SHARPE RATIO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645920"/>
            <a:ext cx="4114800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PrimaryV1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0.838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029968"/>
            <a:ext cx="3771081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60/40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1321" y="2029968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0.768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414016"/>
            <a:ext cx="3476465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414016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SimpleTrend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6705" y="2414016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0.708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798064"/>
            <a:ext cx="3378260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798064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EW25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8500" y="2798064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0.688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3182112"/>
            <a:ext cx="2941247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182112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BuyHoldSPX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1487" y="3182112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0.599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28016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MAX DRAWDOWN COMPARISON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1645920"/>
            <a:ext cx="1536526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1645920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PrimaryV1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366" y="1645920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-22.08%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029968"/>
            <a:ext cx="1871945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2029968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EW25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5785" y="202996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-26.90%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414016"/>
            <a:ext cx="1859419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2414016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SimpleTrend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3259" y="2414016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-26.72%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2798064"/>
            <a:ext cx="2141950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2798064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60/40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5790" y="279806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-30.78%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182112"/>
            <a:ext cx="3657600" cy="256032"/>
          </a:xfrm>
          <a:prstGeom prst="rect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3182112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BuyHoldSPX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39500" y="3182112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E05B5B"/>
                </a:solidFill>
                <a:latin typeface="Courier New"/>
              </a:rPr>
              <a:t>-52.56%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931920"/>
            <a:ext cx="2011680" cy="11887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" y="393192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069080"/>
            <a:ext cx="179222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INFORMATION RATIO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43400"/>
            <a:ext cx="179222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C9A84C"/>
                </a:solidFill>
                <a:latin typeface="Georgia"/>
              </a:rPr>
              <a:t>0.71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800600"/>
            <a:ext cx="179222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Alpha vs benchmark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360" y="3931920"/>
            <a:ext cx="2011680" cy="11887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880360" y="3931920"/>
            <a:ext cx="2011680" cy="36576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90088" y="4069080"/>
            <a:ext cx="179222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CUMULATIVE RETURN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0088" y="4343400"/>
            <a:ext cx="179222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3DBA7E"/>
                </a:solidFill>
                <a:latin typeface="Georgia"/>
              </a:rPr>
              <a:t>524%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90088" y="4800600"/>
            <a:ext cx="179222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1996–2025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3931920"/>
            <a:ext cx="2011680" cy="11887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120640" y="3931920"/>
            <a:ext cx="201168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30368" y="4069080"/>
            <a:ext cx="179222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ANNUALIZED VOL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0368" y="4343400"/>
            <a:ext cx="179222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4A8CDB"/>
                </a:solidFill>
                <a:latin typeface="Georgia"/>
              </a:rPr>
              <a:t>7.70%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0368" y="4800600"/>
            <a:ext cx="179222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Lowest in group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60920" y="3931920"/>
            <a:ext cx="2011680" cy="11887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60920" y="3931920"/>
            <a:ext cx="2011680" cy="36576"/>
          </a:xfrm>
          <a:prstGeom prst="rect">
            <a:avLst/>
          </a:prstGeom>
          <a:solidFill>
            <a:srgbClr val="E89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70648" y="4069080"/>
            <a:ext cx="179222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WIN 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70648" y="4343400"/>
            <a:ext cx="179222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E8982A"/>
                </a:solidFill>
                <a:latin typeface="Georgia"/>
              </a:rPr>
              <a:t>65.08%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0648" y="4800600"/>
            <a:ext cx="179222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Monthly positive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01200" y="3931920"/>
            <a:ext cx="2011680" cy="11887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601200" y="3931920"/>
            <a:ext cx="2011680" cy="36576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10928" y="4069080"/>
            <a:ext cx="179222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CORREL. TO EW25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10928" y="4343400"/>
            <a:ext cx="179222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A8B8CC"/>
                </a:solidFill>
                <a:latin typeface="Georgia"/>
              </a:rPr>
              <a:t>0.528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10928" y="4800600"/>
            <a:ext cx="179222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Partial decoupling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40080" y="5394960"/>
            <a:ext cx="45720" cy="7315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PrimaryV1 achieves a 0.528 correlation to EqualWeight25 benchmark, generating an Information Ratio of 0.71.
This proves true alpha generation decoupled from pure beta — the strategy provides genuine regime-switching
value beyond passive diversification.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2225267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09</a:t>
            </a:r>
            <a:r>
              <a:rPr sz="1100" b="0">
                <a:solidFill>
                  <a:srgbClr val="8EA4BD"/>
                </a:solidFill>
                <a:latin typeface="Courier New"/>
              </a:rPr>
              <a:t>  —  METHODOLOGY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Testing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5943600" cy="4114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36576" cy="411480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Z-Score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44752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Prefix invariance verified — future rows do not alter past z-scores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307592"/>
            <a:ext cx="822960" cy="256032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132588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5943600" cy="4114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36576" cy="411480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764792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Point-in-Time Transforms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47672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Decision at t, realization at t+1, min train window 120 months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810512"/>
            <a:ext cx="822960" cy="256032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82880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PASSED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40280"/>
            <a:ext cx="5943600" cy="4114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240280"/>
            <a:ext cx="36576" cy="411480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267712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Walk-Forward Strict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450592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Strict WF produced 5.58% ann. return, Sharpe 0.729 — delta 0.000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2313432"/>
            <a:ext cx="822960" cy="256032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0" y="233172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PASSED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43200"/>
            <a:ext cx="5943600" cy="4114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2743200"/>
            <a:ext cx="36576" cy="411480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2770632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Robustness Under Friction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953512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Returns positive from 0 to 50 bps (6.33% to 5.13%)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2816352"/>
            <a:ext cx="822960" cy="256032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77840" y="28346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PASSED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246120"/>
            <a:ext cx="5943600" cy="4114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3246120"/>
            <a:ext cx="36576" cy="411480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3273552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Reproducibility Hashes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456432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Full manifest saved in validation_manifest.json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3319272"/>
            <a:ext cx="822960" cy="256032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0" y="333756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PASSED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840480"/>
            <a:ext cx="2286000" cy="36576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385876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PYTEST 5/5 ALL 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12344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COST STRESS 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1554480"/>
            <a:ext cx="4846320" cy="2743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0" y="15819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8EA4BD"/>
                </a:solidFill>
                <a:latin typeface="Courier New"/>
              </a:rPr>
              <a:t>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15819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8EA4BD"/>
                </a:solidFill>
                <a:latin typeface="Courier New"/>
              </a:rPr>
              <a:t>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15819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8EA4BD"/>
                </a:solidFill>
                <a:latin typeface="Courier New"/>
              </a:rPr>
              <a:t>Sharpe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15819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8EA4BD"/>
                </a:solidFill>
                <a:latin typeface="Courier New"/>
              </a:rPr>
              <a:t>Max DD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1874519"/>
            <a:ext cx="4846320" cy="30175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1911095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9A84C"/>
                </a:solidFill>
                <a:latin typeface="Courier New"/>
              </a:rPr>
              <a:t>0 bps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1911095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9A84C"/>
                </a:solidFill>
                <a:latin typeface="Courier New"/>
              </a:rPr>
              <a:t>6.33%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1911095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9A84C"/>
                </a:solidFill>
                <a:latin typeface="Courier New"/>
              </a:rPr>
              <a:t>0.838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1911095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9A84C"/>
                </a:solidFill>
                <a:latin typeface="Courier New"/>
              </a:rPr>
              <a:t>-22.08%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2221991"/>
            <a:ext cx="4846320" cy="30175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40880" y="22585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5 bps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2585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6.21%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22585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0.823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22585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-22.39%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2569463"/>
            <a:ext cx="4846320" cy="30175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040880" y="2606039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10 bps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2606039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6.09%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2606039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0.808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2606039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-22.71%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0" y="2916936"/>
            <a:ext cx="4846320" cy="30175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040880" y="29535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25 bps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29535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5.73%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20" y="29535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0.763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29535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-23.63%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9440" y="3264408"/>
            <a:ext cx="4846320" cy="30175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040880" y="3300984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50 bps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3300984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5.13%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18320" y="3300984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0.686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3300984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-25.16%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0" y="3749039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WALK-FORWARD vs STANDARD CAUSAL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49440" y="4069080"/>
            <a:ext cx="4846320" cy="384048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040880" y="411480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E8EDF5"/>
                </a:solidFill>
                <a:latin typeface="Arial"/>
              </a:rPr>
              <a:t>WalkForwardStrict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69680" y="4114800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5.58%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92640" y="4114800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0.729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5B5B"/>
                </a:solidFill>
                <a:latin typeface="Courier New"/>
              </a:rPr>
              <a:t>-22.08%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49440" y="4526280"/>
            <a:ext cx="4846320" cy="384048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40880" y="457200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Arial"/>
              </a:rPr>
              <a:t>StandardCausal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9680" y="4572000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5.58%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92640" y="4572000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0.729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15600" y="45720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5B5B"/>
                </a:solidFill>
                <a:latin typeface="Courier New"/>
              </a:rPr>
              <a:t>-22.08%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49440" y="5029200"/>
            <a:ext cx="320040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040880" y="504748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Delta = 0.000 — Zero look-ahead bias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" y="5577840"/>
            <a:ext cx="10881360" cy="594360"/>
          </a:xfrm>
          <a:prstGeom prst="rect">
            <a:avLst/>
          </a:prstGeom>
          <a:solidFill>
            <a:srgbClr val="1A2236"/>
          </a:solidFill>
          <a:ln w="12700">
            <a:solidFill>
              <a:srgbClr val="E89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40080" y="5577840"/>
            <a:ext cx="45720" cy="594360"/>
          </a:xfrm>
          <a:prstGeom prst="rect">
            <a:avLst/>
          </a:prstGeom>
          <a:solidFill>
            <a:srgbClr val="E89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" y="562356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8982A"/>
                </a:solidFill>
                <a:latin typeface="Arial"/>
              </a:rPr>
              <a:t>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7280" y="5623560"/>
            <a:ext cx="10241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Interpretation Guardrail: The best robustness scenario (Sharpe 0.963 under alternative thresholds/duration) is
diagnostic only. Final reported production metrics remain based on the default PrimaryV1 configuration.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708029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10</a:t>
            </a:r>
            <a:r>
              <a:rPr sz="1100" b="0">
                <a:solidFill>
                  <a:srgbClr val="8EA4BD"/>
                </a:solidFill>
                <a:latin typeface="Courier New"/>
              </a:rPr>
              <a:t>  —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>
                <a:solidFill>
                  <a:srgbClr val="E8EDF5"/>
                </a:solidFill>
                <a:latin typeface="Georgia"/>
              </a:rPr>
              <a:t>Strategic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383280" cy="146304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3832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Best Risk-Adjusted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Sharpe 0.838 — highest across all 5 strategies tested over 29 years of backtested data (1996–2025).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383280" cy="146304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383280" cy="36576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Lowest Drawdown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Max -22.08% vs -52.56% for pure equity. Capital preservation proven in all major market crises.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463040"/>
            <a:ext cx="3383280" cy="146304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19" y="1463040"/>
            <a:ext cx="338328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Robust Signal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92024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4-factor continuous composite score with 95.8% active trade rate. Win rate 65.08% over 358 evaluated return periods.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54680"/>
            <a:ext cx="3383280" cy="146304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154680"/>
            <a:ext cx="3383280" cy="36576"/>
          </a:xfrm>
          <a:prstGeom prst="rect">
            <a:avLst/>
          </a:prstGeom>
          <a:solidFill>
            <a:srgbClr val="E89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2918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Validation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118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Pytest 5/5 passed. Walk-forward delta 0.000. Zero look-ahead bias confirmed with reproducibility hashes.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154680"/>
            <a:ext cx="3383280" cy="146304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3154680"/>
            <a:ext cx="3383280" cy="36576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32918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Cost Resilient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118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Ann. return stays positive (5.13%) even at 50 bps transaction costs. Turnover 0.189 compatible with monthly rebalancing.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3154680"/>
            <a:ext cx="3383280" cy="146304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19" y="3154680"/>
            <a:ext cx="33832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79" y="32918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Ready for Extension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6118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Stable primary layer — architected for M2 meta-labeling overlay. Move to external validation before live deployment.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754880"/>
            <a:ext cx="45720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C9A84C"/>
                </a:solidFill>
                <a:latin typeface="Courier New"/>
              </a:rPr>
              <a:t>PrimaryV1 RECOMMENDATION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Achieved the highest Sharpe (0.838) and shallowest Drawdown (-22.08%) in the benchmark universe using a robust,
4-factor continuous composite score. Proceed to M2 meta-labeling phase with external validation.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5806440"/>
            <a:ext cx="1920240" cy="36576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92640" y="5824728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PrimaryV1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277169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B4F1B3D-B7E7-4482-98BF-4DB7F640F141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1891</Words>
  <Application>Microsoft Office PowerPoint</Application>
  <PresentationFormat>Widescreen</PresentationFormat>
  <Paragraphs>420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Cristhian Paul Paredes Mayacela</dc:creator>
  <cp:keywords/>
  <dc:description>generated using python-pptx</dc:description>
  <cp:lastModifiedBy>Cristhian Paul Paredes Mayacela</cp:lastModifiedBy>
  <cp:revision>2</cp:revision>
  <dcterms:created xsi:type="dcterms:W3CDTF">2013-01-27T09:14:16Z</dcterms:created>
  <dcterms:modified xsi:type="dcterms:W3CDTF">2026-02-23T00:13:02Z</dcterms:modified>
  <cp:category/>
</cp:coreProperties>
</file>