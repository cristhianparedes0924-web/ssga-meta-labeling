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0" r:id="rId2"/>
    <p:sldId id="281" r:id="rId3"/>
    <p:sldId id="282" r:id="rId4"/>
    <p:sldId id="283" r:id="rId5"/>
    <p:sldId id="284" r:id="rId6"/>
    <p:sldId id="285" r:id="rId7"/>
    <p:sldId id="286" r:id="rId8"/>
    <p:sldId id="287" r:id="rId9"/>
    <p:sldId id="288" r:id="rId10"/>
    <p:sldId id="289" r:id="rId11"/>
    <p:sldId id="290" r:id="rId12"/>
    <p:sldId id="291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812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640080"/>
            <a:ext cx="2011680" cy="320040"/>
          </a:xfrm>
          <a:prstGeom prst="roundRect">
            <a:avLst/>
          </a:prstGeom>
          <a:solidFill>
            <a:srgbClr val="1A2236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C9A84C"/>
                </a:solidFill>
                <a:latin typeface="Courier New"/>
              </a:rPr>
              <a:t>FINAL PROJECT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800" b="0">
                <a:solidFill>
                  <a:srgbClr val="E8EDF5"/>
                </a:solidFill>
                <a:latin typeface="Georgia"/>
              </a:rPr>
              <a:t>PrimaryV1 Meta-Labeling
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0">
                <a:solidFill>
                  <a:srgbClr val="A8B8CC"/>
                </a:solidFill>
                <a:latin typeface="Georgia"/>
              </a:rPr>
              <a:t>Executive Management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6400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A8B8CC"/>
                </a:solidFill>
                <a:latin typeface="Arial"/>
              </a:rPr>
              <a:t>The primary model: first decision layer converting macro and cross-asset
signals into BUY / HOLD / SELL regime states for the meta-labeling pipeline.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0080"/>
            <a:ext cx="36576" cy="29260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4023360"/>
            <a:ext cx="2560320" cy="1051560"/>
          </a:xfrm>
          <a:prstGeom prst="rect">
            <a:avLst/>
          </a:prstGeom>
          <a:solidFill>
            <a:srgbClr val="1A2236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4023360"/>
            <a:ext cx="256032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4133088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8EA4BD"/>
                </a:solidFill>
                <a:latin typeface="Courier New"/>
              </a:rPr>
              <a:t>SHARPE RATIO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>
                <a:solidFill>
                  <a:srgbClr val="C9A84C"/>
                </a:solidFill>
                <a:latin typeface="Georgia"/>
              </a:rPr>
              <a:t>0.838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736592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Arial"/>
              </a:rPr>
              <a:t>Best in benchmark set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4023360"/>
            <a:ext cx="2560320" cy="1051560"/>
          </a:xfrm>
          <a:prstGeom prst="rect">
            <a:avLst/>
          </a:prstGeom>
          <a:solidFill>
            <a:srgbClr val="1A2236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29000" y="4023360"/>
            <a:ext cx="256032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66160" y="4133088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8EA4BD"/>
                </a:solidFill>
                <a:latin typeface="Courier New"/>
              </a:rPr>
              <a:t>ANNUALIZED RETURN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434340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>
                <a:solidFill>
                  <a:srgbClr val="C9A84C"/>
                </a:solidFill>
                <a:latin typeface="Georgia"/>
              </a:rPr>
              <a:t>6.33%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4736592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Arial"/>
              </a:rPr>
              <a:t>Full sample 1996–2025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4023360"/>
            <a:ext cx="2560320" cy="1051560"/>
          </a:xfrm>
          <a:prstGeom prst="rect">
            <a:avLst/>
          </a:prstGeom>
          <a:solidFill>
            <a:srgbClr val="1A2236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4023360"/>
            <a:ext cx="256032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55080" y="4133088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8EA4BD"/>
                </a:solidFill>
                <a:latin typeface="Courier New"/>
              </a:rPr>
              <a:t>MAX DRAWDOWN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34340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>
                <a:solidFill>
                  <a:srgbClr val="C9A84C"/>
                </a:solidFill>
                <a:latin typeface="Georgia"/>
              </a:rPr>
              <a:t>-22.08%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736592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dirty="0">
                <a:solidFill>
                  <a:srgbClr val="A8B8CC"/>
                </a:solidFill>
                <a:latin typeface="Arial"/>
              </a:rPr>
              <a:t>Shallowest vs all peers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06839" y="4023360"/>
            <a:ext cx="2560320" cy="105156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006839" y="4023360"/>
            <a:ext cx="256032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3999" y="4133088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8EA4BD"/>
                </a:solidFill>
                <a:latin typeface="Courier New"/>
              </a:rPr>
              <a:t>WIN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3999" y="434340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>
                <a:solidFill>
                  <a:srgbClr val="E8EDF5"/>
                </a:solidFill>
                <a:latin typeface="Georgia"/>
              </a:rPr>
              <a:t>65.08%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3999" y="4736592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Arial"/>
              </a:rPr>
              <a:t>Monthly positive returns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39496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8EA4BD"/>
                </a:solidFill>
                <a:latin typeface="Courier New"/>
              </a:rPr>
              <a:t>February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8EA4BD"/>
                </a:solidFill>
                <a:latin typeface="Courier New"/>
              </a:rPr>
              <a:t>PRIMARYV1 FRAMEWORK  |  EXECUTIVE BRIEFING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6446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8EA4BD"/>
                </a:solidFill>
                <a:latin typeface="Courier New"/>
              </a:rPr>
              <a:t>1 / 12</a:t>
            </a:r>
          </a:p>
        </p:txBody>
      </p:sp>
    </p:spTree>
    <p:extLst>
      <p:ext uri="{BB962C8B-B14F-4D97-AF65-F5344CB8AC3E}">
        <p14:creationId xmlns:p14="http://schemas.microsoft.com/office/powerpoint/2010/main" val="85598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C9A84C"/>
                </a:solidFill>
                <a:latin typeface="Courier New"/>
              </a:rPr>
              <a:t>00</a:t>
            </a:r>
            <a:r>
              <a:rPr sz="1100" b="0">
                <a:solidFill>
                  <a:srgbClr val="8EA4BD"/>
                </a:solidFill>
                <a:latin typeface="Courier New"/>
              </a:rPr>
              <a:t xml:space="preserve">  — 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5486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0">
                <a:solidFill>
                  <a:srgbClr val="E8EDF5"/>
                </a:solidFill>
                <a:latin typeface="Georgia"/>
              </a:rPr>
              <a:t>Agenda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02920" cy="502920"/>
          </a:xfrm>
          <a:prstGeom prst="round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502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C9A84C"/>
                </a:solidFill>
                <a:latin typeface="Courier New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55448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E8EDF5"/>
                </a:solidFill>
                <a:latin typeface="Arial"/>
              </a:rPr>
              <a:t>Strategy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810512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A8B8CC"/>
                </a:solidFill>
                <a:latin typeface="Arial"/>
              </a:rPr>
              <a:t>How PrimaryV1 works — 4-factor Z-score composite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468880"/>
            <a:ext cx="502920" cy="502920"/>
          </a:xfrm>
          <a:prstGeom prst="round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542032"/>
            <a:ext cx="502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C9A84C"/>
                </a:solidFill>
                <a:latin typeface="Courier New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46888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E8EDF5"/>
                </a:solidFill>
                <a:latin typeface="Arial"/>
              </a:rPr>
              <a:t>Executive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24912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A8B8CC"/>
                </a:solidFill>
                <a:latin typeface="Arial"/>
              </a:rPr>
              <a:t>Key performance highlights &amp; KPI 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383280"/>
            <a:ext cx="502920" cy="502920"/>
          </a:xfrm>
          <a:prstGeom prst="round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456432"/>
            <a:ext cx="502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C9A84C"/>
                </a:solidFill>
                <a:latin typeface="Courier New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38328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E8EDF5"/>
                </a:solidFill>
                <a:latin typeface="Arial"/>
              </a:rPr>
              <a:t>Indicators Deep Dive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639312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A8B8CC"/>
                </a:solidFill>
                <a:latin typeface="Arial"/>
              </a:rPr>
              <a:t>The 4 real macro indicators explained in detail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297680"/>
            <a:ext cx="502920" cy="502920"/>
          </a:xfrm>
          <a:prstGeom prst="round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4370832"/>
            <a:ext cx="502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C9A84C"/>
                </a:solidFill>
                <a:latin typeface="Courier New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29768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E8EDF5"/>
                </a:solidFill>
                <a:latin typeface="Arial"/>
              </a:rPr>
              <a:t>Composite Score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553712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A8B8CC"/>
                </a:solidFill>
                <a:latin typeface="Arial"/>
              </a:rPr>
              <a:t>Continuous Z-score aggregation &amp; signal generation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212080"/>
            <a:ext cx="502920" cy="502920"/>
          </a:xfrm>
          <a:prstGeom prst="round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5285232"/>
            <a:ext cx="502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C9A84C"/>
                </a:solidFill>
                <a:latin typeface="Courier New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21208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E8EDF5"/>
                </a:solidFill>
                <a:latin typeface="Arial"/>
              </a:rPr>
              <a:t>Benchmark Universe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468112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A8B8CC"/>
                </a:solidFill>
                <a:latin typeface="Arial"/>
              </a:rPr>
              <a:t>The 4 benchmarks &amp; why they matter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1554480"/>
            <a:ext cx="502920" cy="502920"/>
          </a:xfrm>
          <a:prstGeom prst="round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09360" y="1627632"/>
            <a:ext cx="502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C9A84C"/>
                </a:solidFill>
                <a:latin typeface="Courier New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155448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E8EDF5"/>
                </a:solidFill>
                <a:latin typeface="Arial"/>
              </a:rPr>
              <a:t>Benchmark Comparison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1810512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A8B8CC"/>
                </a:solidFill>
                <a:latin typeface="Arial"/>
              </a:rPr>
              <a:t>PrimaryV1 vs industry standards — side by side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2468880"/>
            <a:ext cx="502920" cy="502920"/>
          </a:xfrm>
          <a:prstGeom prst="round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9360" y="2542032"/>
            <a:ext cx="502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C9A84C"/>
                </a:solidFill>
                <a:latin typeface="Courier New"/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246888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E8EDF5"/>
                </a:solidFill>
                <a:latin typeface="Arial"/>
              </a:rPr>
              <a:t>Signal Distribution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2724912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A8B8CC"/>
                </a:solidFill>
                <a:latin typeface="Arial"/>
              </a:rPr>
              <a:t>BUY/HOLD/SELL counts &amp; benchmark excess analysis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3383280"/>
            <a:ext cx="502920" cy="502920"/>
          </a:xfrm>
          <a:prstGeom prst="round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09360" y="3456432"/>
            <a:ext cx="502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C9A84C"/>
                </a:solidFill>
                <a:latin typeface="Courier New"/>
              </a:rP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338328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E8EDF5"/>
                </a:solidFill>
                <a:latin typeface="Arial"/>
              </a:rPr>
              <a:t>Performance Dashboard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3639312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A8B8CC"/>
                </a:solidFill>
                <a:latin typeface="Arial"/>
              </a:rPr>
              <a:t>Full metrics: Sharpe, drawdown, correlation, info ratio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60" y="4297680"/>
            <a:ext cx="502920" cy="502920"/>
          </a:xfrm>
          <a:prstGeom prst="round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09360" y="4370832"/>
            <a:ext cx="502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C9A84C"/>
                </a:solidFill>
                <a:latin typeface="Courier New"/>
              </a:rPr>
              <a:t>09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429768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E8EDF5"/>
                </a:solidFill>
                <a:latin typeface="Arial"/>
              </a:rPr>
              <a:t>Methodology Validation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4553712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A8B8CC"/>
                </a:solidFill>
                <a:latin typeface="Arial"/>
              </a:rPr>
              <a:t>Walk-forward, cost stress, integrity checks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09360" y="5212080"/>
            <a:ext cx="502920" cy="502920"/>
          </a:xfrm>
          <a:prstGeom prst="round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09360" y="5285232"/>
            <a:ext cx="502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C9A84C"/>
                </a:solidFill>
                <a:latin typeface="Courier New"/>
              </a:rPr>
              <a:t>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521208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E8EDF5"/>
                </a:solidFill>
                <a:latin typeface="Arial"/>
              </a:rPr>
              <a:t>Conclusion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5468112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A8B8CC"/>
                </a:solidFill>
                <a:latin typeface="Arial"/>
              </a:rPr>
              <a:t>Strategic recommendation &amp; next steps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8EA4BD"/>
                </a:solidFill>
                <a:latin typeface="Courier New"/>
              </a:rPr>
              <a:t>PRIMARYV1 FRAMEWORK  |  EXECUTIVE BRIEFING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0" y="6446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8EA4BD"/>
                </a:solidFill>
                <a:latin typeface="Courier New"/>
              </a:rPr>
              <a:t>2 / 12</a:t>
            </a:r>
          </a:p>
        </p:txBody>
      </p:sp>
    </p:spTree>
    <p:extLst>
      <p:ext uri="{BB962C8B-B14F-4D97-AF65-F5344CB8AC3E}">
        <p14:creationId xmlns:p14="http://schemas.microsoft.com/office/powerpoint/2010/main" val="3082228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C9A84C"/>
                </a:solidFill>
                <a:latin typeface="Courier New"/>
              </a:rPr>
              <a:t>01</a:t>
            </a:r>
            <a:r>
              <a:rPr sz="1100" b="0">
                <a:solidFill>
                  <a:srgbClr val="8EA4BD"/>
                </a:solidFill>
                <a:latin typeface="Courier New"/>
              </a:rPr>
              <a:t xml:space="preserve">  —  STRATEGY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0">
                <a:solidFill>
                  <a:srgbClr val="E8EDF5"/>
                </a:solidFill>
                <a:latin typeface="Georgia"/>
              </a:rPr>
              <a:t>How PrimaryV1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A8B8CC"/>
                </a:solidFill>
                <a:latin typeface="Arial"/>
              </a:rPr>
              <a:t>PrimaryV1 utilizes a continuous Z-Score Composite approach to regime detection — not majority voting.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447" y="1828800"/>
            <a:ext cx="2011680" cy="201168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447" y="1828800"/>
            <a:ext cx="201168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9175" y="1965960"/>
            <a:ext cx="1792224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C9A84C"/>
                </a:solidFill>
                <a:latin typeface="Courier New"/>
              </a:rPr>
              <a:t>1. LISTEN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9175" y="2331720"/>
            <a:ext cx="1792224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A8B8CC"/>
                </a:solidFill>
                <a:latin typeface="Arial"/>
              </a:rPr>
              <a:t>Monitor 4 macro signals
monthly: equity trend,
commodity trend, credit
conditions, risk appetite.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39415" y="2560320"/>
            <a:ext cx="182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C9A84C"/>
                </a:solidFill>
                <a:latin typeface="Courier New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49727" y="1828800"/>
            <a:ext cx="2011680" cy="201168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849727" y="1828800"/>
            <a:ext cx="201168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59455" y="1965960"/>
            <a:ext cx="1792224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C9A84C"/>
                </a:solidFill>
                <a:latin typeface="Courier New"/>
              </a:rPr>
              <a:t>2. NORMALIZE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59455" y="2331720"/>
            <a:ext cx="1792224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A8B8CC"/>
                </a:solidFill>
                <a:latin typeface="Arial"/>
              </a:rPr>
              <a:t>Each indicator is
z-scored against an
expanding historical
window — zero leakage.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79695" y="2560320"/>
            <a:ext cx="182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C9A84C"/>
                </a:solidFill>
                <a:latin typeface="Courier New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90007" y="1828800"/>
            <a:ext cx="2011680" cy="201168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90007" y="1828800"/>
            <a:ext cx="201168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99735" y="1965960"/>
            <a:ext cx="1792224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C9A84C"/>
                </a:solidFill>
                <a:latin typeface="Courier New"/>
              </a:rPr>
              <a:t>3. COMPOSITE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99735" y="2331720"/>
            <a:ext cx="1792224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A8B8CC"/>
                </a:solidFill>
                <a:latin typeface="Arial"/>
              </a:rPr>
              <a:t>Normalized signals are
aggregated into a single
continuous Composite
Score.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9975" y="2560320"/>
            <a:ext cx="182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C9A84C"/>
                </a:solidFill>
                <a:latin typeface="Courier New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30287" y="1828800"/>
            <a:ext cx="2011680" cy="201168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30287" y="1828800"/>
            <a:ext cx="201168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40015" y="1965960"/>
            <a:ext cx="1792224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C9A84C"/>
                </a:solidFill>
                <a:latin typeface="Courier New"/>
              </a:rPr>
              <a:t>4. DECIDE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0015" y="2331720"/>
            <a:ext cx="1792224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A8B8CC"/>
                </a:solidFill>
                <a:latin typeface="Arial"/>
              </a:rPr>
              <a:t>Score &gt; 0.0001 = BUY
Score &lt; -0.0001 = SELL
Otherwise = 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0255" y="2560320"/>
            <a:ext cx="182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C9A84C"/>
                </a:solidFill>
                <a:latin typeface="Courier New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70567" y="1828800"/>
            <a:ext cx="2011680" cy="201168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570567" y="1828800"/>
            <a:ext cx="201168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80295" y="1965960"/>
            <a:ext cx="1792224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C9A84C"/>
                </a:solidFill>
                <a:latin typeface="Courier New"/>
              </a:rPr>
              <a:t>5. ALLOCATE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80295" y="2331720"/>
            <a:ext cx="1792224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A8B8CC"/>
                </a:solidFill>
                <a:latin typeface="Arial"/>
              </a:rPr>
              <a:t>BUY → SPX + BCOM +
Corp Bonds (risk-on)
SELL → Treasury 10Y
(defensive)
HOLD → carry previous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11480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A8B8CC"/>
                </a:solidFill>
                <a:latin typeface="Courier New"/>
              </a:rPr>
              <a:t>THE 4-INDICATOR STACK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526280"/>
            <a:ext cx="365760" cy="320040"/>
          </a:xfrm>
          <a:prstGeom prst="roundRect">
            <a:avLst/>
          </a:prstGeom>
          <a:solidFill>
            <a:srgbClr val="1A2236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8368" y="4562856"/>
            <a:ext cx="329184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C9A84C"/>
                </a:solidFill>
                <a:latin typeface="Courier New"/>
              </a:rPr>
              <a:t>I1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452628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E8EDF5"/>
                </a:solidFill>
                <a:latin typeface="Arial"/>
              </a:rPr>
              <a:t>SPX Trend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4709160"/>
            <a:ext cx="4754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A8B8CC"/>
                </a:solidFill>
                <a:latin typeface="Arial"/>
              </a:rPr>
              <a:t>Equity direction — price vs 12M moving average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4526280"/>
            <a:ext cx="365760" cy="320040"/>
          </a:xfrm>
          <a:prstGeom prst="roundRect">
            <a:avLst/>
          </a:prstGeom>
          <a:solidFill>
            <a:srgbClr val="1A2236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27648" y="4562856"/>
            <a:ext cx="329184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C9A84C"/>
                </a:solidFill>
                <a:latin typeface="Courier New"/>
              </a:rPr>
              <a:t>I2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452628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E8EDF5"/>
                </a:solidFill>
                <a:latin typeface="Arial"/>
              </a:rPr>
              <a:t>BCOM Trend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4709160"/>
            <a:ext cx="4754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A8B8CC"/>
                </a:solidFill>
                <a:latin typeface="Arial"/>
              </a:rPr>
              <a:t>Commodity macro confirmation — cross-asset risk tone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4983480"/>
            <a:ext cx="365760" cy="320040"/>
          </a:xfrm>
          <a:prstGeom prst="roundRect">
            <a:avLst/>
          </a:prstGeom>
          <a:solidFill>
            <a:srgbClr val="1A2236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8368" y="5020056"/>
            <a:ext cx="329184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C9A84C"/>
                </a:solidFill>
                <a:latin typeface="Courier New"/>
              </a:rPr>
              <a:t>I3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" y="498348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E8EDF5"/>
                </a:solidFill>
                <a:latin typeface="Arial"/>
              </a:rPr>
              <a:t>Credit vs Rates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5166360"/>
            <a:ext cx="4754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A8B8CC"/>
                </a:solidFill>
                <a:latin typeface="Arial"/>
              </a:rPr>
              <a:t>Risk appetite via Corp Bonds vs Treasury 10Y spreads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09360" y="4983480"/>
            <a:ext cx="365760" cy="320040"/>
          </a:xfrm>
          <a:prstGeom prst="roundRect">
            <a:avLst/>
          </a:prstGeom>
          <a:solidFill>
            <a:srgbClr val="1A2236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27648" y="5020056"/>
            <a:ext cx="329184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C9A84C"/>
                </a:solidFill>
                <a:latin typeface="Courier New"/>
              </a:rPr>
              <a:t>I4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0" y="498348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E8EDF5"/>
                </a:solidFill>
                <a:latin typeface="Arial"/>
              </a:rPr>
              <a:t>Risk Breadth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0" y="5166360"/>
            <a:ext cx="4754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A8B8CC"/>
                </a:solidFill>
                <a:latin typeface="Arial"/>
              </a:rPr>
              <a:t>Cross-asset participation — broad risk basket vs treasuries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5577840"/>
            <a:ext cx="10881360" cy="548640"/>
          </a:xfrm>
          <a:prstGeom prst="rect">
            <a:avLst/>
          </a:prstGeom>
          <a:solidFill>
            <a:srgbClr val="1A2236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40080" y="5577840"/>
            <a:ext cx="45720" cy="5486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A8B8CC"/>
                </a:solidFill>
                <a:latin typeface="Arial"/>
              </a:rPr>
              <a:t>KEY INSIGHT: PrimaryV1 does not use majority voting. It normalizes 4 inputs into a continuous Composite Score
using an expanding Z-score window, generating a unified directional edge penalized for correlation.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8EA4BD"/>
                </a:solidFill>
                <a:latin typeface="Courier New"/>
              </a:rPr>
              <a:t>PRIMARYV1 FRAMEWORK  |  EXECUTIVE BRIEFING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0" y="6446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8EA4BD"/>
                </a:solidFill>
                <a:latin typeface="Courier New"/>
              </a:rPr>
              <a:t>3 / 12</a:t>
            </a:r>
          </a:p>
        </p:txBody>
      </p:sp>
    </p:spTree>
    <p:extLst>
      <p:ext uri="{BB962C8B-B14F-4D97-AF65-F5344CB8AC3E}">
        <p14:creationId xmlns:p14="http://schemas.microsoft.com/office/powerpoint/2010/main" val="2445863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C9A84C"/>
                </a:solidFill>
                <a:latin typeface="Courier New"/>
              </a:rPr>
              <a:t>02</a:t>
            </a:r>
            <a:r>
              <a:rPr sz="1100" b="0">
                <a:solidFill>
                  <a:srgbClr val="8EA4BD"/>
                </a:solidFill>
                <a:latin typeface="Courier New"/>
              </a:rPr>
              <a:t xml:space="preserve">  — 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0">
                <a:solidFill>
                  <a:srgbClr val="E8EDF5"/>
                </a:solidFill>
                <a:latin typeface="Georgia"/>
              </a:rPr>
              <a:t>PrimaryV1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2560320" cy="1097280"/>
          </a:xfrm>
          <a:prstGeom prst="rect">
            <a:avLst/>
          </a:prstGeom>
          <a:solidFill>
            <a:srgbClr val="1A2236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256032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481328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8EA4BD"/>
                </a:solidFill>
                <a:latin typeface="Courier New"/>
              </a:rPr>
              <a:t>ANNUALIZED RETURN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>
                <a:solidFill>
                  <a:srgbClr val="C9A84C"/>
                </a:solidFill>
                <a:latin typeface="Georgia"/>
              </a:rPr>
              <a:t>6.33%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84832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Arial"/>
              </a:rPr>
              <a:t>Full sample 1996–2025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1371600"/>
            <a:ext cx="2560320" cy="1097280"/>
          </a:xfrm>
          <a:prstGeom prst="rect">
            <a:avLst/>
          </a:prstGeom>
          <a:solidFill>
            <a:srgbClr val="1A2236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29000" y="1371600"/>
            <a:ext cx="256032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66160" y="1481328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8EA4BD"/>
                </a:solidFill>
                <a:latin typeface="Courier New"/>
              </a:rPr>
              <a:t>SHARPE RATIO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169164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>
                <a:solidFill>
                  <a:srgbClr val="C9A84C"/>
                </a:solidFill>
                <a:latin typeface="Georgia"/>
              </a:rPr>
              <a:t>0.838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084832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Arial"/>
              </a:rPr>
              <a:t>#1 in benchmark set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371600"/>
            <a:ext cx="2560320" cy="1097280"/>
          </a:xfrm>
          <a:prstGeom prst="rect">
            <a:avLst/>
          </a:prstGeom>
          <a:solidFill>
            <a:srgbClr val="1A2236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1371600"/>
            <a:ext cx="256032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5080" y="1481328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8EA4BD"/>
                </a:solidFill>
                <a:latin typeface="Courier New"/>
              </a:rPr>
              <a:t>MAX DRAWDOWN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69164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>
                <a:solidFill>
                  <a:srgbClr val="C9A84C"/>
                </a:solidFill>
                <a:latin typeface="Georgia"/>
              </a:rPr>
              <a:t>-22.08%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084832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Arial"/>
              </a:rPr>
              <a:t>Shallowest vs all peers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06839" y="1371600"/>
            <a:ext cx="2560320" cy="109728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006839" y="1371600"/>
            <a:ext cx="256032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3999" y="1481328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8EA4BD"/>
                </a:solidFill>
                <a:latin typeface="Courier New"/>
              </a:rPr>
              <a:t>WIN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3999" y="169164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>
                <a:solidFill>
                  <a:srgbClr val="E8EDF5"/>
                </a:solidFill>
                <a:latin typeface="Georgia"/>
              </a:rPr>
              <a:t>65.08%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3999" y="2084832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Arial"/>
              </a:rPr>
              <a:t>Monthly positive returns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2743200"/>
            <a:ext cx="2560320" cy="109728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0080" y="2743200"/>
            <a:ext cx="256032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2852928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8EA4BD"/>
                </a:solidFill>
                <a:latin typeface="Courier New"/>
              </a:rPr>
              <a:t>ANNUALIZED VOL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306324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>
                <a:solidFill>
                  <a:srgbClr val="E8EDF5"/>
                </a:solidFill>
                <a:latin typeface="Georgia"/>
              </a:rPr>
              <a:t>7.70%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456432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Arial"/>
              </a:rPr>
              <a:t>Low vs equity peers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29000" y="2743200"/>
            <a:ext cx="2560320" cy="109728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429000" y="2743200"/>
            <a:ext cx="256032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566160" y="2852928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8EA4BD"/>
                </a:solidFill>
                <a:latin typeface="Courier New"/>
              </a:rPr>
              <a:t>CUMULATIVE RETURN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306324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>
                <a:solidFill>
                  <a:srgbClr val="E8EDF5"/>
                </a:solidFill>
                <a:latin typeface="Georgia"/>
              </a:rPr>
              <a:t>524.02%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3456432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Arial"/>
              </a:rPr>
              <a:t>Net equity growth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2743200"/>
            <a:ext cx="2560320" cy="109728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217920" y="2743200"/>
            <a:ext cx="256032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55080" y="2852928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8EA4BD"/>
                </a:solidFill>
                <a:latin typeface="Courier New"/>
              </a:rPr>
              <a:t>CALMAR RATIO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306324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>
                <a:solidFill>
                  <a:srgbClr val="E8EDF5"/>
                </a:solidFill>
                <a:latin typeface="Georgia"/>
              </a:rPr>
              <a:t>0.287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3456432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Arial"/>
              </a:rPr>
              <a:t>Return / |drawdown|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06839" y="2743200"/>
            <a:ext cx="2560320" cy="109728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006839" y="2743200"/>
            <a:ext cx="256032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143999" y="2852928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8EA4BD"/>
                </a:solidFill>
                <a:latin typeface="Courier New"/>
              </a:rPr>
              <a:t>AVG TURNOVER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3999" y="306324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>
                <a:solidFill>
                  <a:srgbClr val="E8EDF5"/>
                </a:solidFill>
                <a:latin typeface="Georgia"/>
              </a:rPr>
              <a:t>0.189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3999" y="3456432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Arial"/>
              </a:rPr>
              <a:t>Monthly rebalancing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" y="4297680"/>
            <a:ext cx="10881360" cy="64008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40080" y="4297680"/>
            <a:ext cx="45720" cy="6400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22960" y="4389120"/>
            <a:ext cx="10515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A8B8CC"/>
                </a:solidFill>
                <a:latin typeface="Arial"/>
              </a:rPr>
              <a:t>PrimaryV1 delivers the highest risk-adjusted return in its benchmark group with the lowest maximum drawdown
— across a 1996–2025 sample, 358 evaluated monthly periods (~29.8 years). Ending net equity: 6.240x.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8EA4BD"/>
                </a:solidFill>
                <a:latin typeface="Courier New"/>
              </a:rPr>
              <a:t>PRIMARYV1 FRAMEWORK  |  EXECUTIVE BRIEFING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200" y="6446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8EA4BD"/>
                </a:solidFill>
                <a:latin typeface="Courier New"/>
              </a:rPr>
              <a:t>4 / 12</a:t>
            </a:r>
          </a:p>
        </p:txBody>
      </p:sp>
    </p:spTree>
    <p:extLst>
      <p:ext uri="{BB962C8B-B14F-4D97-AF65-F5344CB8AC3E}">
        <p14:creationId xmlns:p14="http://schemas.microsoft.com/office/powerpoint/2010/main" val="262440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C9A84C"/>
                </a:solidFill>
                <a:latin typeface="Courier New"/>
              </a:rPr>
              <a:t>03</a:t>
            </a:r>
            <a:r>
              <a:rPr sz="1100" b="0">
                <a:solidFill>
                  <a:srgbClr val="8EA4BD"/>
                </a:solidFill>
                <a:latin typeface="Courier New"/>
              </a:rPr>
              <a:t xml:space="preserve">  —  INDICATORS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0">
                <a:solidFill>
                  <a:srgbClr val="E8EDF5"/>
                </a:solidFill>
                <a:latin typeface="Georgia"/>
              </a:rPr>
              <a:t>The 4-Indicator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A8B8CC"/>
                </a:solidFill>
                <a:latin typeface="Arial"/>
              </a:rPr>
              <a:t>Simple, robust macro metrics (price/SMA, yield spreads) designed to prevent overfitting. No complex predictive models.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5303520" cy="160020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530352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77240" y="1737360"/>
            <a:ext cx="411480" cy="274320"/>
          </a:xfrm>
          <a:prstGeom prst="roundRect">
            <a:avLst/>
          </a:prstGeom>
          <a:solidFill>
            <a:srgbClr val="0B0F1A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755648"/>
            <a:ext cx="411480" cy="2468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C9A84C"/>
                </a:solidFill>
                <a:latin typeface="Courier New"/>
              </a:rPr>
              <a:t>I1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691639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E8EDF5"/>
                </a:solidFill>
                <a:latin typeface="Arial"/>
              </a:rPr>
              <a:t>SPX Trend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938528"/>
            <a:ext cx="4114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Courier New"/>
              </a:rPr>
              <a:t>Equity Direction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40280"/>
            <a:ext cx="50292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A8B8CC"/>
                </a:solidFill>
                <a:latin typeface="Arial"/>
              </a:rPr>
              <a:t>Measures how far SPX sits above or below its 12-month moving average. The core equity trend signal — when price is above the MA, the regime is constructive for risk assets.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554480"/>
            <a:ext cx="5303520" cy="160020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55080" y="1554480"/>
            <a:ext cx="5303520" cy="36576"/>
          </a:xfrm>
          <a:prstGeom prst="rect">
            <a:avLst/>
          </a:prstGeom>
          <a:solidFill>
            <a:srgbClr val="4A8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92240" y="1737360"/>
            <a:ext cx="411480" cy="274320"/>
          </a:xfrm>
          <a:prstGeom prst="roundRect">
            <a:avLst/>
          </a:prstGeom>
          <a:solidFill>
            <a:srgbClr val="0B0F1A"/>
          </a:solidFill>
          <a:ln w="12700">
            <a:solidFill>
              <a:srgbClr val="4A8C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1755648"/>
            <a:ext cx="411480" cy="2468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4A8CDB"/>
                </a:solidFill>
                <a:latin typeface="Courier New"/>
              </a:rPr>
              <a:t>I2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1691639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E8EDF5"/>
                </a:solidFill>
                <a:latin typeface="Arial"/>
              </a:rPr>
              <a:t>BCOM Trend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1938528"/>
            <a:ext cx="4114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Courier New"/>
              </a:rPr>
              <a:t>Commodity Macro Confirmation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240280"/>
            <a:ext cx="50292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A8B8CC"/>
                </a:solidFill>
                <a:latin typeface="Arial"/>
              </a:rPr>
              <a:t>Bloomberg Commodity Index trend counterpart capturing cross-asset risk tone. Confirms whether the macro environment supports risk exposure beyond equities alone.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429000"/>
            <a:ext cx="5303520" cy="160020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3429000"/>
            <a:ext cx="5303520" cy="36576"/>
          </a:xfrm>
          <a:prstGeom prst="rect">
            <a:avLst/>
          </a:prstGeom>
          <a:solidFill>
            <a:srgbClr val="E89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77240" y="3611880"/>
            <a:ext cx="411480" cy="274320"/>
          </a:xfrm>
          <a:prstGeom prst="roundRect">
            <a:avLst/>
          </a:prstGeom>
          <a:solidFill>
            <a:srgbClr val="0B0F1A"/>
          </a:solidFill>
          <a:ln w="12700">
            <a:solidFill>
              <a:srgbClr val="E89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3630168"/>
            <a:ext cx="411480" cy="2468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E8982A"/>
                </a:solidFill>
                <a:latin typeface="Courier New"/>
              </a:rPr>
              <a:t>I3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56616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E8EDF5"/>
                </a:solidFill>
                <a:latin typeface="Arial"/>
              </a:rPr>
              <a:t>Credit vs Rates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3813048"/>
            <a:ext cx="4114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Courier New"/>
              </a:rPr>
              <a:t>Risk Appetite Gauge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114800"/>
            <a:ext cx="50292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A8B8CC"/>
                </a:solidFill>
                <a:latin typeface="Arial"/>
              </a:rPr>
              <a:t>Checks whether corporate bonds outperform Treasuries — a direct measure of risk appetite. Narrowing credit spreads signal falling default risk and a supportive equity environment.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3429000"/>
            <a:ext cx="5303520" cy="160020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355080" y="3429000"/>
            <a:ext cx="5303520" cy="36576"/>
          </a:xfrm>
          <a:prstGeom prst="rect">
            <a:avLst/>
          </a:prstGeom>
          <a:solidFill>
            <a:srgbClr val="3DB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492240" y="3611880"/>
            <a:ext cx="411480" cy="274320"/>
          </a:xfrm>
          <a:prstGeom prst="roundRect">
            <a:avLst/>
          </a:prstGeom>
          <a:solidFill>
            <a:srgbClr val="0B0F1A"/>
          </a:solidFill>
          <a:ln w="12700">
            <a:solidFill>
              <a:srgbClr val="3DB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92240" y="3630168"/>
            <a:ext cx="411480" cy="2468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3DBA7E"/>
                </a:solidFill>
                <a:latin typeface="Courier New"/>
              </a:rPr>
              <a:t>I4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356616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E8EDF5"/>
                </a:solidFill>
                <a:latin typeface="Arial"/>
              </a:rPr>
              <a:t>Risk Breadth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3813048"/>
            <a:ext cx="4114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Courier New"/>
              </a:rPr>
              <a:t>Cross-Asset Participation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114800"/>
            <a:ext cx="50292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A8B8CC"/>
                </a:solidFill>
                <a:latin typeface="Arial"/>
              </a:rPr>
              <a:t>Compares broad risk basket returns versus Treasury returns. Measures whether multiple asset classes are participating in the risk-on move, not just a single market.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21208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8EA4BD"/>
                </a:solidFill>
                <a:latin typeface="Courier New"/>
              </a:rPr>
              <a:t>INDICATOR → SPX FORWARD CORRELATION (SPEARMAN)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5532120"/>
            <a:ext cx="2011680" cy="64008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19" y="557784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A8B8CC"/>
                </a:solidFill>
                <a:latin typeface="Courier New"/>
              </a:rPr>
              <a:t>spx_trend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19" y="58064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A8B8CC"/>
                </a:solidFill>
                <a:latin typeface="Courier New"/>
              </a:rPr>
              <a:t>-0.006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34640" y="5532120"/>
            <a:ext cx="2011680" cy="64008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926080" y="557784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A8B8CC"/>
                </a:solidFill>
                <a:latin typeface="Courier New"/>
              </a:rPr>
              <a:t>bcom_trend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26080" y="58064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E05B5B"/>
                </a:solidFill>
                <a:latin typeface="Courier New"/>
              </a:rPr>
              <a:t>-0.125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0" y="5532120"/>
            <a:ext cx="2011680" cy="64008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20640" y="557784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A8B8CC"/>
                </a:solidFill>
                <a:latin typeface="Courier New"/>
              </a:rPr>
              <a:t>credit_vs_rates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0640" y="58064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3DBA7E"/>
                </a:solidFill>
                <a:latin typeface="Courier New"/>
              </a:rPr>
              <a:t>+0.010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23760" y="5532120"/>
            <a:ext cx="2011680" cy="64008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315200" y="557784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A8B8CC"/>
                </a:solidFill>
                <a:latin typeface="Courier New"/>
              </a:rPr>
              <a:t>risk_breadth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0" y="58064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E05B5B"/>
                </a:solidFill>
                <a:latin typeface="Courier New"/>
              </a:rPr>
              <a:t>-0.052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418320" y="5532120"/>
            <a:ext cx="2011680" cy="64008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509760" y="557784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A8B8CC"/>
                </a:solidFill>
                <a:latin typeface="Courier New"/>
              </a:rPr>
              <a:t>composite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09760" y="58064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E05B5B"/>
                </a:solidFill>
                <a:latin typeface="Courier New"/>
              </a:rPr>
              <a:t>-0.076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8EA4BD"/>
                </a:solidFill>
                <a:latin typeface="Courier New"/>
              </a:rPr>
              <a:t>PRIMARYV1 FRAMEWORK  |  EXECUTIVE BRIEFING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0" y="6446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8EA4BD"/>
                </a:solidFill>
                <a:latin typeface="Courier New"/>
              </a:rPr>
              <a:t>5 / 12</a:t>
            </a:r>
          </a:p>
        </p:txBody>
      </p:sp>
    </p:spTree>
    <p:extLst>
      <p:ext uri="{BB962C8B-B14F-4D97-AF65-F5344CB8AC3E}">
        <p14:creationId xmlns:p14="http://schemas.microsoft.com/office/powerpoint/2010/main" val="2431379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C9A84C"/>
                </a:solidFill>
                <a:latin typeface="Courier New"/>
              </a:rPr>
              <a:t>04</a:t>
            </a:r>
            <a:r>
              <a:rPr sz="1100" b="0">
                <a:solidFill>
                  <a:srgbClr val="8EA4BD"/>
                </a:solidFill>
                <a:latin typeface="Courier New"/>
              </a:rPr>
              <a:t xml:space="preserve">  —  COMPOSITE SCORE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0">
                <a:solidFill>
                  <a:srgbClr val="E8EDF5"/>
                </a:solidFill>
                <a:latin typeface="Georgia"/>
              </a:rPr>
              <a:t>How the Signal is Generated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A8B8CC"/>
                </a:solidFill>
                <a:latin typeface="Arial"/>
              </a:rPr>
              <a:t>The model aggregates the normalized z-scores of the 4 indicators into a composite score heavily penalized for
correlation, generating a unified directional edge. There is no majority voting — the output is a continuous score.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10881360" cy="109728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45720" cy="10972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22959" y="2331720"/>
            <a:ext cx="777240" cy="274320"/>
          </a:xfrm>
          <a:prstGeom prst="roundRect">
            <a:avLst/>
          </a:prstGeom>
          <a:solidFill>
            <a:srgbClr val="0B0F1A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2350008"/>
            <a:ext cx="777240" cy="2468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C9A84C"/>
                </a:solidFill>
                <a:latin typeface="Courier New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304288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E8EDF5"/>
                </a:solidFill>
                <a:latin typeface="Arial"/>
              </a:rPr>
              <a:t>Z-Score Normalization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578608"/>
            <a:ext cx="9418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A8B8CC"/>
                </a:solidFill>
                <a:latin typeface="Arial"/>
              </a:rPr>
              <a:t>Each of the 4 indicators is z-scored using an expanding historical window. This ensures all signals are on a comparable scale and strictly causal (no future data used).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474720"/>
            <a:ext cx="10881360" cy="109728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3474720"/>
            <a:ext cx="45720" cy="1097280"/>
          </a:xfrm>
          <a:prstGeom prst="rect">
            <a:avLst/>
          </a:prstGeom>
          <a:solidFill>
            <a:srgbClr val="4A8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2959" y="3611879"/>
            <a:ext cx="777240" cy="274320"/>
          </a:xfrm>
          <a:prstGeom prst="roundRect">
            <a:avLst/>
          </a:prstGeom>
          <a:solidFill>
            <a:srgbClr val="0B0F1A"/>
          </a:solidFill>
          <a:ln w="12700">
            <a:solidFill>
              <a:srgbClr val="4A8C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59" y="3630168"/>
            <a:ext cx="777240" cy="2468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4A8CDB"/>
                </a:solidFill>
                <a:latin typeface="Courier New"/>
              </a:rP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584448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E8EDF5"/>
                </a:solidFill>
                <a:latin typeface="Arial"/>
              </a:rPr>
              <a:t>Composite Aggregation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858768"/>
            <a:ext cx="9418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>
                <a:solidFill>
                  <a:srgbClr val="A8B8CC"/>
                </a:solidFill>
                <a:latin typeface="Arial"/>
              </a:rPr>
              <a:t>The normalized z-scores are combined into a single Composite Score. The aggregation method penalizes correlated signals, ensuring the composite reflects genuine diversified macro information.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754879"/>
            <a:ext cx="10881360" cy="109728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4754879"/>
            <a:ext cx="45720" cy="1097280"/>
          </a:xfrm>
          <a:prstGeom prst="rect">
            <a:avLst/>
          </a:prstGeom>
          <a:solidFill>
            <a:srgbClr val="E89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22959" y="4892040"/>
            <a:ext cx="777240" cy="274320"/>
          </a:xfrm>
          <a:prstGeom prst="roundRect">
            <a:avLst/>
          </a:prstGeom>
          <a:solidFill>
            <a:srgbClr val="0B0F1A"/>
          </a:solidFill>
          <a:ln w="12700">
            <a:solidFill>
              <a:srgbClr val="E89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59" y="4910327"/>
            <a:ext cx="777240" cy="2468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E8982A"/>
                </a:solidFill>
                <a:latin typeface="Courier New"/>
              </a:rPr>
              <a:t>STEP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4864607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E8EDF5"/>
                </a:solidFill>
                <a:latin typeface="Arial"/>
              </a:rPr>
              <a:t>Threshold Decision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5138927"/>
            <a:ext cx="9418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>
                <a:solidFill>
                  <a:srgbClr val="A8B8CC"/>
                </a:solidFill>
                <a:latin typeface="Arial"/>
              </a:rPr>
              <a:t>Score &gt; +0.0001  →  BUY (Risk-On: equities &amp; commodities)
Score &lt; -0.0001   →  SELL (Defensive: treasuries)
Otherwise             →  HOLD (maintain allocation)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852160"/>
            <a:ext cx="5486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8EA4BD"/>
                </a:solidFill>
                <a:latin typeface="Courier New"/>
              </a:rPr>
              <a:t>SIGNAL DISTRIBUTION (1996–2025)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6126480"/>
            <a:ext cx="640080" cy="274320"/>
          </a:xfrm>
          <a:prstGeom prst="roundRect">
            <a:avLst/>
          </a:prstGeom>
          <a:solidFill>
            <a:srgbClr val="1A2236"/>
          </a:solidFill>
          <a:ln w="12700">
            <a:solidFill>
              <a:srgbClr val="3DB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6144768"/>
            <a:ext cx="640080" cy="2468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3DBA7E"/>
                </a:solidFill>
                <a:latin typeface="Courier New"/>
              </a:rPr>
              <a:t>BUY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6126480"/>
            <a:ext cx="13716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A8B8CC"/>
                </a:solidFill>
                <a:latin typeface="Courier New"/>
              </a:rPr>
              <a:t>197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6263640"/>
            <a:ext cx="13716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A8B8CC"/>
                </a:solidFill>
                <a:latin typeface="Courier New"/>
              </a:rPr>
              <a:t>54.7%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83280" y="6126480"/>
            <a:ext cx="640080" cy="274320"/>
          </a:xfrm>
          <a:prstGeom prst="roundRect">
            <a:avLst/>
          </a:prstGeom>
          <a:solidFill>
            <a:srgbClr val="1A2236"/>
          </a:solidFill>
          <a:ln w="12700">
            <a:solidFill>
              <a:srgbClr val="E0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383280" y="6144768"/>
            <a:ext cx="640080" cy="2468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E05B5B"/>
                </a:solidFill>
                <a:latin typeface="Courier New"/>
              </a:rPr>
              <a:t>SELL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6126480"/>
            <a:ext cx="13716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A8B8CC"/>
                </a:solidFill>
                <a:latin typeface="Courier New"/>
              </a:rPr>
              <a:t>148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6263640"/>
            <a:ext cx="13716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A8B8CC"/>
                </a:solidFill>
                <a:latin typeface="Courier New"/>
              </a:rPr>
              <a:t>41.1%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0" y="6126480"/>
            <a:ext cx="640080" cy="274320"/>
          </a:xfrm>
          <a:prstGeom prst="roundRect">
            <a:avLst/>
          </a:prstGeom>
          <a:solidFill>
            <a:srgbClr val="1A2236"/>
          </a:solidFill>
          <a:ln w="12700">
            <a:solidFill>
              <a:srgbClr val="4A8C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26480" y="6144768"/>
            <a:ext cx="640080" cy="2468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4A8CDB"/>
                </a:solidFill>
                <a:latin typeface="Courier New"/>
              </a:rPr>
              <a:t>HOLD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6126480"/>
            <a:ext cx="13716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A8B8CC"/>
                </a:solidFill>
                <a:latin typeface="Courier New"/>
              </a:rPr>
              <a:t>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6263640"/>
            <a:ext cx="13716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A8B8CC"/>
                </a:solidFill>
                <a:latin typeface="Courier New"/>
              </a:rPr>
              <a:t>4.1%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612648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C9A84C"/>
                </a:solidFill>
                <a:latin typeface="Courier New"/>
              </a:rPr>
              <a:t>95.8% active trade rate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8EA4BD"/>
                </a:solidFill>
                <a:latin typeface="Courier New"/>
              </a:rPr>
              <a:t>PRIMARYV1 FRAMEWORK  |  EXECUTIVE BRIEFING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6446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8EA4BD"/>
                </a:solidFill>
                <a:latin typeface="Courier New"/>
              </a:rPr>
              <a:t>6 / 12</a:t>
            </a:r>
          </a:p>
        </p:txBody>
      </p:sp>
    </p:spTree>
    <p:extLst>
      <p:ext uri="{BB962C8B-B14F-4D97-AF65-F5344CB8AC3E}">
        <p14:creationId xmlns:p14="http://schemas.microsoft.com/office/powerpoint/2010/main" val="3247685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A8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C9A84C"/>
                </a:solidFill>
                <a:latin typeface="Courier New"/>
              </a:rPr>
              <a:t>05</a:t>
            </a:r>
            <a:r>
              <a:rPr sz="1100" b="0">
                <a:solidFill>
                  <a:srgbClr val="8EA4BD"/>
                </a:solidFill>
                <a:latin typeface="Courier New"/>
              </a:rPr>
              <a:t xml:space="preserve">  —  BENCHMARK UNIVERSE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0">
                <a:solidFill>
                  <a:srgbClr val="E8EDF5"/>
                </a:solidFill>
                <a:latin typeface="Georgia"/>
              </a:rPr>
              <a:t>The Four Benchmarks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A8B8CC"/>
                </a:solidFill>
                <a:latin typeface="Arial"/>
              </a:rPr>
              <a:t>Each benchmark isolates a simpler way to hold risk — PrimaryV1 must clear every bar.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5349240" cy="196596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5349240" cy="36576"/>
          </a:xfrm>
          <a:prstGeom prst="rect">
            <a:avLst/>
          </a:prstGeom>
          <a:solidFill>
            <a:srgbClr val="4A8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457200" cy="274320"/>
          </a:xfrm>
          <a:prstGeom prst="roundRect">
            <a:avLst/>
          </a:prstGeom>
          <a:solidFill>
            <a:srgbClr val="0B0F1A"/>
          </a:solidFill>
          <a:ln w="12700">
            <a:solidFill>
              <a:srgbClr val="4A8C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847088"/>
            <a:ext cx="457200" cy="2468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4A8CDB"/>
                </a:solidFill>
                <a:latin typeface="Courier New"/>
              </a:rPr>
              <a:t>B01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801368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E8EDF5"/>
                </a:solidFill>
                <a:latin typeface="Arial"/>
              </a:rPr>
              <a:t>EqualWeight25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5074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A8B8CC"/>
                </a:solidFill>
                <a:latin typeface="Arial"/>
              </a:rPr>
              <a:t>25% in each asset every month with no timing.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68880"/>
            <a:ext cx="5074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8EA4BD"/>
                </a:solidFill>
                <a:latin typeface="Arial"/>
              </a:rPr>
              <a:t>Reference for a neutral, mechanical allocator using the same asset menu.
Separates universe effect from timing logic.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08960"/>
            <a:ext cx="16916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E8EDF5"/>
                </a:solidFill>
                <a:latin typeface="Courier New"/>
              </a:rPr>
              <a:t>4.78%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337560"/>
            <a:ext cx="16916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Courier New"/>
              </a:rPr>
              <a:t>Return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79" y="3108960"/>
            <a:ext cx="16916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A8B8CC"/>
                </a:solidFill>
                <a:latin typeface="Courier New"/>
              </a:rPr>
              <a:t>0.688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79" y="3337560"/>
            <a:ext cx="16916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Courier New"/>
              </a:rPr>
              <a:t>Sharpe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3108960"/>
            <a:ext cx="16916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E8EDF5"/>
                </a:solidFill>
                <a:latin typeface="Courier New"/>
              </a:rPr>
              <a:t>-26.90%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3337560"/>
            <a:ext cx="16916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8EA4BD"/>
                </a:solidFill>
                <a:latin typeface="Courier New"/>
              </a:rPr>
              <a:t>Max DD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691640"/>
            <a:ext cx="5349240" cy="196596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0" y="1691640"/>
            <a:ext cx="5349240" cy="36576"/>
          </a:xfrm>
          <a:prstGeom prst="rect">
            <a:avLst/>
          </a:prstGeom>
          <a:solidFill>
            <a:srgbClr val="4A8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537960" y="1828800"/>
            <a:ext cx="457200" cy="274320"/>
          </a:xfrm>
          <a:prstGeom prst="roundRect">
            <a:avLst/>
          </a:prstGeom>
          <a:solidFill>
            <a:srgbClr val="0B0F1A"/>
          </a:solidFill>
          <a:ln w="12700">
            <a:solidFill>
              <a:srgbClr val="4A8C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37960" y="1847088"/>
            <a:ext cx="457200" cy="2468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A8B8CC"/>
                </a:solidFill>
                <a:latin typeface="Courier New"/>
              </a:rPr>
              <a:t>B02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1801368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A8B8CC"/>
                </a:solidFill>
                <a:latin typeface="Arial"/>
              </a:rPr>
              <a:t>Buy &amp; Hold SPX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2148840"/>
            <a:ext cx="5074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>
                <a:solidFill>
                  <a:srgbClr val="A8B8CC"/>
                </a:solidFill>
                <a:latin typeface="Arial"/>
              </a:rPr>
              <a:t>100% SPX, continuously invested.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2468880"/>
            <a:ext cx="5074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8EA4BD"/>
                </a:solidFill>
                <a:latin typeface="Arial"/>
              </a:rPr>
              <a:t>Pure equity beta benchmark to compare against broad market drift.
Anchors performance to directional equity exposure.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3108960"/>
            <a:ext cx="16916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E8EDF5"/>
                </a:solidFill>
                <a:latin typeface="Courier New"/>
              </a:rPr>
              <a:t>8.27%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337560"/>
            <a:ext cx="16916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8EA4BD"/>
                </a:solidFill>
                <a:latin typeface="Courier New"/>
              </a:rPr>
              <a:t>Return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3108960"/>
            <a:ext cx="16916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E8EDF5"/>
                </a:solidFill>
                <a:latin typeface="Courier New"/>
              </a:rPr>
              <a:t>0.599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337560"/>
            <a:ext cx="16916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8EA4BD"/>
                </a:solidFill>
                <a:latin typeface="Courier New"/>
              </a:rPr>
              <a:t>Sharpe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21240" y="3108960"/>
            <a:ext cx="16916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E8EDF5"/>
                </a:solidFill>
                <a:latin typeface="Courier New"/>
              </a:rPr>
              <a:t>-52.56%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21240" y="3337560"/>
            <a:ext cx="16916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8EA4BD"/>
                </a:solidFill>
                <a:latin typeface="Courier New"/>
              </a:rPr>
              <a:t>Max DD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3886200"/>
            <a:ext cx="5349240" cy="196596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0080" y="3886200"/>
            <a:ext cx="5349240" cy="36576"/>
          </a:xfrm>
          <a:prstGeom prst="rect">
            <a:avLst/>
          </a:prstGeom>
          <a:solidFill>
            <a:srgbClr val="4A8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777240" y="4023360"/>
            <a:ext cx="457200" cy="274320"/>
          </a:xfrm>
          <a:prstGeom prst="roundRect">
            <a:avLst/>
          </a:prstGeom>
          <a:solidFill>
            <a:srgbClr val="0B0F1A"/>
          </a:solidFill>
          <a:ln w="12700">
            <a:solidFill>
              <a:srgbClr val="4A8C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77240" y="4041648"/>
            <a:ext cx="457200" cy="2468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4A8CDB"/>
                </a:solidFill>
                <a:latin typeface="Courier New"/>
              </a:rPr>
              <a:t>B03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3995928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A8B8CC"/>
                </a:solidFill>
                <a:latin typeface="Arial"/>
              </a:rPr>
              <a:t>60/40 Portfolio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4343400"/>
            <a:ext cx="5074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>
                <a:solidFill>
                  <a:srgbClr val="A8B8CC"/>
                </a:solidFill>
                <a:latin typeface="Arial"/>
              </a:rPr>
              <a:t>60% SPX + 40% Treasury, static rebalance.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4663440"/>
            <a:ext cx="5074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8EA4BD"/>
                </a:solidFill>
                <a:latin typeface="Arial"/>
              </a:rPr>
              <a:t>Institutional baseline for balanced growth/defense trade-off.
Classic diversification without tactical overlays.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303520"/>
            <a:ext cx="16916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A8B8CC"/>
                </a:solidFill>
                <a:latin typeface="Courier New"/>
              </a:rPr>
              <a:t>6.94%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532120"/>
            <a:ext cx="16916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8EA4BD"/>
                </a:solidFill>
                <a:latin typeface="Courier New"/>
              </a:rPr>
              <a:t>Return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68879" y="5303520"/>
            <a:ext cx="16916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E8EDF5"/>
                </a:solidFill>
                <a:latin typeface="Courier New"/>
              </a:rPr>
              <a:t>0.768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68879" y="5532120"/>
            <a:ext cx="16916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Courier New"/>
              </a:rPr>
              <a:t>Sharpe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60520" y="5303520"/>
            <a:ext cx="16916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E8EDF5"/>
                </a:solidFill>
                <a:latin typeface="Courier New"/>
              </a:rPr>
              <a:t>-30.78%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60520" y="5532120"/>
            <a:ext cx="16916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8EA4BD"/>
                </a:solidFill>
                <a:latin typeface="Courier New"/>
              </a:rPr>
              <a:t>Max DD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3886200"/>
            <a:ext cx="5349240" cy="196596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400800" y="3886200"/>
            <a:ext cx="5349240" cy="36576"/>
          </a:xfrm>
          <a:prstGeom prst="rect">
            <a:avLst/>
          </a:prstGeom>
          <a:solidFill>
            <a:srgbClr val="4A8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6537960" y="4023360"/>
            <a:ext cx="457200" cy="274320"/>
          </a:xfrm>
          <a:prstGeom prst="roundRect">
            <a:avLst/>
          </a:prstGeom>
          <a:solidFill>
            <a:srgbClr val="0B0F1A"/>
          </a:solidFill>
          <a:ln w="12700">
            <a:solidFill>
              <a:srgbClr val="4A8C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537960" y="4041648"/>
            <a:ext cx="457200" cy="2468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A8B8CC"/>
                </a:solidFill>
                <a:latin typeface="Courier New"/>
              </a:rPr>
              <a:t>B04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32320" y="3995928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E8EDF5"/>
                </a:solidFill>
                <a:latin typeface="Arial"/>
              </a:rPr>
              <a:t>SimpleTrend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37960" y="4343400"/>
            <a:ext cx="5074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A8B8CC"/>
                </a:solidFill>
                <a:latin typeface="Arial"/>
              </a:rPr>
              <a:t>SPX trend rule; shift toward Treasury in risk-off regimes.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37960" y="4663440"/>
            <a:ext cx="5074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8EA4BD"/>
                </a:solidFill>
                <a:latin typeface="Arial"/>
              </a:rPr>
              <a:t>Low-complexity tactical comparator closest in spirit to regime switching.
Tests whether PrimaryV1 adds value beyond a single trend rule.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7960" y="5303520"/>
            <a:ext cx="16916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E8EDF5"/>
                </a:solidFill>
                <a:latin typeface="Courier New"/>
              </a:rPr>
              <a:t>8.62%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37960" y="5532120"/>
            <a:ext cx="16916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8EA4BD"/>
                </a:solidFill>
                <a:latin typeface="Courier New"/>
              </a:rPr>
              <a:t>Return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0" y="5303520"/>
            <a:ext cx="16916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E8EDF5"/>
                </a:solidFill>
                <a:latin typeface="Courier New"/>
              </a:rPr>
              <a:t>0.708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0" y="5532120"/>
            <a:ext cx="16916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8EA4BD"/>
                </a:solidFill>
                <a:latin typeface="Courier New"/>
              </a:rPr>
              <a:t>Sharpe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21240" y="5303520"/>
            <a:ext cx="16916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E8EDF5"/>
                </a:solidFill>
                <a:latin typeface="Courier New"/>
              </a:rPr>
              <a:t>-26.72%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21240" y="5532120"/>
            <a:ext cx="16916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8EA4BD"/>
                </a:solidFill>
                <a:latin typeface="Courier New"/>
              </a:rPr>
              <a:t>Max DD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8EA4BD"/>
                </a:solidFill>
                <a:latin typeface="Courier New"/>
              </a:rPr>
              <a:t>PRIMARYV1 FRAMEWORK  |  EXECUTIVE BRIEFING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01200" y="6446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8EA4BD"/>
                </a:solidFill>
                <a:latin typeface="Courier New"/>
              </a:rPr>
              <a:t>7 / 12</a:t>
            </a:r>
          </a:p>
        </p:txBody>
      </p:sp>
    </p:spTree>
    <p:extLst>
      <p:ext uri="{BB962C8B-B14F-4D97-AF65-F5344CB8AC3E}">
        <p14:creationId xmlns:p14="http://schemas.microsoft.com/office/powerpoint/2010/main" val="13206346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C9A84C"/>
                </a:solidFill>
                <a:latin typeface="Courier New"/>
              </a:rPr>
              <a:t>06</a:t>
            </a:r>
            <a:r>
              <a:rPr sz="1100" b="0">
                <a:solidFill>
                  <a:srgbClr val="8EA4BD"/>
                </a:solidFill>
                <a:latin typeface="Courier New"/>
              </a:rPr>
              <a:t xml:space="preserve">  —  BENCHMARK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0">
                <a:solidFill>
                  <a:srgbClr val="E8EDF5"/>
                </a:solidFill>
                <a:latin typeface="Georgia"/>
              </a:rPr>
              <a:t>PrimaryV1 vs Benchmarks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71600"/>
          <a:ext cx="10881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8EA4BD"/>
                          </a:solidFill>
                          <a:latin typeface="Courier New"/>
                        </a:rPr>
                        <a:t>Strategy</a:t>
                      </a:r>
                    </a:p>
                  </a:txBody>
                  <a:tcPr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8EA4BD"/>
                          </a:solidFill>
                          <a:latin typeface="Courier New"/>
                        </a:rPr>
                        <a:t>Ann. Return</a:t>
                      </a:r>
                    </a:p>
                  </a:txBody>
                  <a:tcPr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8EA4BD"/>
                          </a:solidFill>
                          <a:latin typeface="Courier New"/>
                        </a:rPr>
                        <a:t>Ann. Vol</a:t>
                      </a:r>
                    </a:p>
                  </a:txBody>
                  <a:tcPr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8EA4BD"/>
                          </a:solidFill>
                          <a:latin typeface="Courier New"/>
                        </a:rPr>
                        <a:t>Sharpe</a:t>
                      </a:r>
                    </a:p>
                  </a:txBody>
                  <a:tcPr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8EA4BD"/>
                          </a:solidFill>
                          <a:latin typeface="Courier New"/>
                        </a:rPr>
                        <a:t>Max Drawdown</a:t>
                      </a:r>
                    </a:p>
                  </a:txBody>
                  <a:tcPr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8EA4BD"/>
                          </a:solidFill>
                          <a:latin typeface="Courier New"/>
                        </a:rPr>
                        <a:t>Calmar</a:t>
                      </a:r>
                    </a:p>
                  </a:txBody>
                  <a:tcPr>
                    <a:solidFill>
                      <a:srgbClr val="1A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A8B8CC"/>
                          </a:solidFill>
                          <a:latin typeface="Arial"/>
                        </a:rPr>
                        <a:t>EqualWeight25</a:t>
                      </a:r>
                    </a:p>
                  </a:txBody>
                  <a:tcPr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A8B8CC"/>
                          </a:solidFill>
                          <a:latin typeface="Courier New"/>
                        </a:rPr>
                        <a:t>4.78%</a:t>
                      </a:r>
                    </a:p>
                  </a:txBody>
                  <a:tcPr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A8B8CC"/>
                          </a:solidFill>
                          <a:latin typeface="Courier New"/>
                        </a:rPr>
                        <a:t>7.18%</a:t>
                      </a:r>
                    </a:p>
                  </a:txBody>
                  <a:tcPr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A8B8CC"/>
                          </a:solidFill>
                          <a:latin typeface="Courier New"/>
                        </a:rPr>
                        <a:t>0.688</a:t>
                      </a:r>
                    </a:p>
                  </a:txBody>
                  <a:tcPr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A8B8CC"/>
                          </a:solidFill>
                          <a:latin typeface="Courier New"/>
                        </a:rPr>
                        <a:t>-26.90%</a:t>
                      </a:r>
                    </a:p>
                  </a:txBody>
                  <a:tcPr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A8B8CC"/>
                          </a:solidFill>
                          <a:latin typeface="Courier New"/>
                        </a:rPr>
                        <a:t>0.178</a:t>
                      </a:r>
                    </a:p>
                  </a:txBody>
                  <a:tcPr>
                    <a:solidFill>
                      <a:srgbClr val="131C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A8B8CC"/>
                          </a:solidFill>
                          <a:latin typeface="Arial"/>
                        </a:rPr>
                        <a:t>Buy &amp; Hold SPX</a:t>
                      </a:r>
                    </a:p>
                  </a:txBody>
                  <a:tcPr>
                    <a:solidFill>
                      <a:srgbClr val="0B0F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A8B8CC"/>
                          </a:solidFill>
                          <a:latin typeface="Courier New"/>
                        </a:rPr>
                        <a:t>8.27%</a:t>
                      </a:r>
                    </a:p>
                  </a:txBody>
                  <a:tcPr>
                    <a:solidFill>
                      <a:srgbClr val="0B0F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A8B8CC"/>
                          </a:solidFill>
                          <a:latin typeface="Courier New"/>
                        </a:rPr>
                        <a:t>15.28%</a:t>
                      </a:r>
                    </a:p>
                  </a:txBody>
                  <a:tcPr>
                    <a:solidFill>
                      <a:srgbClr val="0B0F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A8B8CC"/>
                          </a:solidFill>
                          <a:latin typeface="Courier New"/>
                        </a:rPr>
                        <a:t>0.599</a:t>
                      </a:r>
                    </a:p>
                  </a:txBody>
                  <a:tcPr>
                    <a:solidFill>
                      <a:srgbClr val="0B0F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A8B8CC"/>
                          </a:solidFill>
                          <a:latin typeface="Courier New"/>
                        </a:rPr>
                        <a:t>-52.56%</a:t>
                      </a:r>
                    </a:p>
                  </a:txBody>
                  <a:tcPr>
                    <a:solidFill>
                      <a:srgbClr val="0B0F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A8B8CC"/>
                          </a:solidFill>
                          <a:latin typeface="Courier New"/>
                        </a:rPr>
                        <a:t>0.157</a:t>
                      </a:r>
                    </a:p>
                  </a:txBody>
                  <a:tcPr>
                    <a:solidFill>
                      <a:srgbClr val="0B0F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A8B8CC"/>
                          </a:solidFill>
                          <a:latin typeface="Arial"/>
                        </a:rPr>
                        <a:t>60/40 Blend</a:t>
                      </a:r>
                    </a:p>
                  </a:txBody>
                  <a:tcPr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A8B8CC"/>
                          </a:solidFill>
                          <a:latin typeface="Courier New"/>
                        </a:rPr>
                        <a:t>6.94%</a:t>
                      </a:r>
                    </a:p>
                  </a:txBody>
                  <a:tcPr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A8B8CC"/>
                          </a:solidFill>
                          <a:latin typeface="Courier New"/>
                        </a:rPr>
                        <a:t>9.33%</a:t>
                      </a:r>
                    </a:p>
                  </a:txBody>
                  <a:tcPr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A8B8CC"/>
                          </a:solidFill>
                          <a:latin typeface="Courier New"/>
                        </a:rPr>
                        <a:t>0.768</a:t>
                      </a:r>
                    </a:p>
                  </a:txBody>
                  <a:tcPr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A8B8CC"/>
                          </a:solidFill>
                          <a:latin typeface="Courier New"/>
                        </a:rPr>
                        <a:t>-30.78%</a:t>
                      </a:r>
                    </a:p>
                  </a:txBody>
                  <a:tcPr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A8B8CC"/>
                          </a:solidFill>
                          <a:latin typeface="Courier New"/>
                        </a:rPr>
                        <a:t>0.225</a:t>
                      </a:r>
                    </a:p>
                  </a:txBody>
                  <a:tcPr>
                    <a:solidFill>
                      <a:srgbClr val="131C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A8B8CC"/>
                          </a:solidFill>
                          <a:latin typeface="Arial"/>
                        </a:rPr>
                        <a:t>SimpleTrend</a:t>
                      </a:r>
                    </a:p>
                  </a:txBody>
                  <a:tcPr>
                    <a:solidFill>
                      <a:srgbClr val="0B0F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A8B8CC"/>
                          </a:solidFill>
                          <a:latin typeface="Courier New"/>
                        </a:rPr>
                        <a:t>8.62%</a:t>
                      </a:r>
                    </a:p>
                  </a:txBody>
                  <a:tcPr>
                    <a:solidFill>
                      <a:srgbClr val="0B0F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A8B8CC"/>
                          </a:solidFill>
                          <a:latin typeface="Courier New"/>
                        </a:rPr>
                        <a:t>12.91%</a:t>
                      </a:r>
                    </a:p>
                  </a:txBody>
                  <a:tcPr>
                    <a:solidFill>
                      <a:srgbClr val="0B0F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A8B8CC"/>
                          </a:solidFill>
                          <a:latin typeface="Courier New"/>
                        </a:rPr>
                        <a:t>0.708</a:t>
                      </a:r>
                    </a:p>
                  </a:txBody>
                  <a:tcPr>
                    <a:solidFill>
                      <a:srgbClr val="0B0F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A8B8CC"/>
                          </a:solidFill>
                          <a:latin typeface="Courier New"/>
                        </a:rPr>
                        <a:t>-26.72%</a:t>
                      </a:r>
                    </a:p>
                  </a:txBody>
                  <a:tcPr>
                    <a:solidFill>
                      <a:srgbClr val="0B0F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A8B8CC"/>
                          </a:solidFill>
                          <a:latin typeface="Courier New"/>
                        </a:rPr>
                        <a:t>0.323</a:t>
                      </a:r>
                    </a:p>
                  </a:txBody>
                  <a:tcPr>
                    <a:solidFill>
                      <a:srgbClr val="0B0F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C9A84C"/>
                          </a:solidFill>
                          <a:latin typeface="Arial"/>
                        </a:rPr>
                        <a:t>PrimaryV1  ★</a:t>
                      </a:r>
                    </a:p>
                  </a:txBody>
                  <a:tcPr>
                    <a:solidFill>
                      <a:srgbClr val="1F293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C9A84C"/>
                          </a:solidFill>
                          <a:latin typeface="Courier New"/>
                        </a:rPr>
                        <a:t>6.33%</a:t>
                      </a:r>
                    </a:p>
                  </a:txBody>
                  <a:tcPr>
                    <a:solidFill>
                      <a:srgbClr val="1F293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C9A84C"/>
                          </a:solidFill>
                          <a:latin typeface="Courier New"/>
                        </a:rPr>
                        <a:t>7.70%</a:t>
                      </a:r>
                    </a:p>
                  </a:txBody>
                  <a:tcPr>
                    <a:solidFill>
                      <a:srgbClr val="1F293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C9A84C"/>
                          </a:solidFill>
                          <a:latin typeface="Courier New"/>
                        </a:rPr>
                        <a:t>0.838</a:t>
                      </a:r>
                    </a:p>
                  </a:txBody>
                  <a:tcPr>
                    <a:solidFill>
                      <a:srgbClr val="1F293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C9A84C"/>
                          </a:solidFill>
                          <a:latin typeface="Courier New"/>
                        </a:rPr>
                        <a:t>-22.08%</a:t>
                      </a:r>
                    </a:p>
                  </a:txBody>
                  <a:tcPr>
                    <a:solidFill>
                      <a:srgbClr val="1F293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dirty="0">
                          <a:solidFill>
                            <a:srgbClr val="C9A84C"/>
                          </a:solidFill>
                          <a:latin typeface="Courier New"/>
                        </a:rPr>
                        <a:t>0.287</a:t>
                      </a:r>
                    </a:p>
                  </a:txBody>
                  <a:tcPr>
                    <a:solidFill>
                      <a:srgbClr val="1F29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40080" y="4206240"/>
            <a:ext cx="10881360" cy="73152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4206240"/>
            <a:ext cx="45720" cy="7315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425196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A8B8CC"/>
                </a:solidFill>
                <a:latin typeface="Arial"/>
              </a:rPr>
              <a:t>KEY TAKEAWAYS: PrimaryV1 leads on Sharpe (0.838) and Max Drawdown (-22.08%) — delivering the best
risk-adjusted return with the least peak-to-trough loss. BuyHold SPX has higher raw returns (8.27%) but
suffers -52.56% drawdowns — nearly 2.4x worse than PrimaryV1.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21208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8EA4BD"/>
                </a:solidFill>
                <a:latin typeface="Courier New"/>
              </a:rPr>
              <a:t>ADDITIONAL METRICS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532120"/>
            <a:ext cx="3291840" cy="64008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5577840"/>
            <a:ext cx="3017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C9A84C"/>
                </a:solidFill>
                <a:latin typeface="Arial"/>
              </a:rPr>
              <a:t>PrimaryV1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06440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Courier New"/>
              </a:rPr>
              <a:t>Turnover: 0.189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5806440"/>
            <a:ext cx="16459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Courier New"/>
              </a:rPr>
              <a:t>Cum. Return: 524.02%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5532120"/>
            <a:ext cx="3291840" cy="64008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34840" y="5577840"/>
            <a:ext cx="3017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A8B8CC"/>
                </a:solidFill>
                <a:latin typeface="Arial"/>
              </a:rPr>
              <a:t>SimpleTrend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5806440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Courier New"/>
              </a:rPr>
              <a:t>Turnover: 0.081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5806440"/>
            <a:ext cx="16459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Courier New"/>
              </a:rPr>
              <a:t>Cum. Return: 1080.05%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79" y="5532120"/>
            <a:ext cx="3291840" cy="64008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92440" y="5577840"/>
            <a:ext cx="3017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A8B8CC"/>
                </a:solidFill>
                <a:latin typeface="Arial"/>
              </a:rPr>
              <a:t>EW25 / BuyHoldSPX / 60-40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5806440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Courier New"/>
              </a:rPr>
              <a:t>Turnover: 0.000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59" y="5806440"/>
            <a:ext cx="21945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Courier New"/>
              </a:rPr>
              <a:t>Cum: 302.60 / 969.15 / 639.50%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8EA4BD"/>
                </a:solidFill>
                <a:latin typeface="Courier New"/>
              </a:rPr>
              <a:t>PRIMARYV1 FRAMEWORK  |  EXECUTIVE BRIEFING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6446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8EA4BD"/>
                </a:solidFill>
                <a:latin typeface="Courier New"/>
              </a:rPr>
              <a:t>8 / 12</a:t>
            </a:r>
          </a:p>
        </p:txBody>
      </p:sp>
    </p:spTree>
    <p:extLst>
      <p:ext uri="{BB962C8B-B14F-4D97-AF65-F5344CB8AC3E}">
        <p14:creationId xmlns:p14="http://schemas.microsoft.com/office/powerpoint/2010/main" val="27094118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DB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C9A84C"/>
                </a:solidFill>
                <a:latin typeface="Courier New"/>
              </a:rPr>
              <a:t>07</a:t>
            </a:r>
            <a:r>
              <a:rPr sz="1100" b="0">
                <a:solidFill>
                  <a:srgbClr val="8EA4BD"/>
                </a:solidFill>
                <a:latin typeface="Courier New"/>
              </a:rPr>
              <a:t xml:space="preserve">  —  SIGNAL DISTRIBUTION &amp; BENCHMARK EXCESS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0">
                <a:solidFill>
                  <a:srgbClr val="E8EDF5"/>
                </a:solidFill>
                <a:latin typeface="Georgia"/>
              </a:rPr>
              <a:t>Signal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3383280" cy="137160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3383280" cy="36576"/>
          </a:xfrm>
          <a:prstGeom prst="rect">
            <a:avLst/>
          </a:prstGeom>
          <a:solidFill>
            <a:srgbClr val="3DB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41732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3DBA7E"/>
                </a:solidFill>
                <a:latin typeface="Courier New"/>
              </a:rPr>
              <a:t>BUY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73736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0">
                <a:solidFill>
                  <a:srgbClr val="E8EDF5"/>
                </a:solidFill>
                <a:latin typeface="Georgia"/>
              </a:rPr>
              <a:t>197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94560"/>
            <a:ext cx="2286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A8B8CC"/>
                </a:solidFill>
                <a:latin typeface="Courier New"/>
              </a:rPr>
              <a:t>54.7%  •  Risk-On months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280160"/>
            <a:ext cx="3383280" cy="137160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280160"/>
            <a:ext cx="3383280" cy="36576"/>
          </a:xfrm>
          <a:prstGeom prst="rect">
            <a:avLst/>
          </a:prstGeom>
          <a:solidFill>
            <a:srgbClr val="E0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41732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E05B5B"/>
                </a:solidFill>
                <a:latin typeface="Courier New"/>
              </a:rPr>
              <a:t>SELL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73736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0">
                <a:solidFill>
                  <a:srgbClr val="E8EDF5"/>
                </a:solidFill>
                <a:latin typeface="Georgia"/>
              </a:rPr>
              <a:t>148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194560"/>
            <a:ext cx="2286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A8B8CC"/>
                </a:solidFill>
                <a:latin typeface="Courier New"/>
              </a:rPr>
              <a:t>41.1%  •  Defensive months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59" y="1280160"/>
            <a:ext cx="3383280" cy="137160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59" y="1280160"/>
            <a:ext cx="3383280" cy="36576"/>
          </a:xfrm>
          <a:prstGeom prst="rect">
            <a:avLst/>
          </a:prstGeom>
          <a:solidFill>
            <a:srgbClr val="4A8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39" y="141732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4A8CDB"/>
                </a:solidFill>
                <a:latin typeface="Courier New"/>
              </a:rPr>
              <a:t>HOLD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39" y="173736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0">
                <a:solidFill>
                  <a:srgbClr val="E8EDF5"/>
                </a:solidFill>
                <a:latin typeface="Georgia"/>
              </a:rPr>
              <a:t>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39" y="2194560"/>
            <a:ext cx="2286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A8B8CC"/>
                </a:solidFill>
                <a:latin typeface="Courier New"/>
              </a:rPr>
              <a:t>4.1%  •  Maintain allocation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2880360"/>
            <a:ext cx="2926080" cy="320040"/>
          </a:xfrm>
          <a:prstGeom prst="roundRect">
            <a:avLst/>
          </a:prstGeom>
          <a:solidFill>
            <a:srgbClr val="1A2236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289864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C9A84C"/>
                </a:solidFill>
                <a:latin typeface="Courier New"/>
              </a:rPr>
              <a:t>95.8% Active Trade Acceptance 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42900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8EA4BD"/>
                </a:solidFill>
                <a:latin typeface="Courier New"/>
              </a:rPr>
              <a:t>EXCESS VS EQUALWEIGHT25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749039"/>
            <a:ext cx="2560320" cy="91440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3840479"/>
            <a:ext cx="2286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A8B8CC"/>
                </a:solidFill>
                <a:latin typeface="Arial"/>
              </a:rPr>
              <a:t>BuyHoldSPX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069079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3DBA7E"/>
                </a:solidFill>
                <a:latin typeface="Courier New"/>
              </a:rPr>
              <a:t>+4.21%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407407"/>
            <a:ext cx="2286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Courier New"/>
              </a:rPr>
              <a:t>226 won / 132 lost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29000" y="3749039"/>
            <a:ext cx="2560320" cy="91440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566160" y="3840479"/>
            <a:ext cx="2286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A8B8CC"/>
                </a:solidFill>
                <a:latin typeface="Arial"/>
              </a:rPr>
              <a:t>60/40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4069079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3DBA7E"/>
                </a:solidFill>
                <a:latin typeface="Courier New"/>
              </a:rPr>
              <a:t>+2.22%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0" y="4407407"/>
            <a:ext cx="2286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Courier New"/>
              </a:rPr>
              <a:t>208 won / 150 lost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3749039"/>
            <a:ext cx="2560320" cy="91440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55080" y="3840479"/>
            <a:ext cx="2286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A8B8CC"/>
                </a:solidFill>
                <a:latin typeface="Arial"/>
              </a:rPr>
              <a:t>SimpleTrend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4069079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3DBA7E"/>
                </a:solidFill>
                <a:latin typeface="Courier New"/>
              </a:rPr>
              <a:t>+4.20%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407407"/>
            <a:ext cx="2286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Courier New"/>
              </a:rPr>
              <a:t>220 won / 138 lost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06839" y="3749039"/>
            <a:ext cx="2560320" cy="914400"/>
          </a:xfrm>
          <a:prstGeom prst="rect">
            <a:avLst/>
          </a:prstGeom>
          <a:solidFill>
            <a:srgbClr val="1A2236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43999" y="3840479"/>
            <a:ext cx="2286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A8B8CC"/>
                </a:solidFill>
                <a:latin typeface="Arial"/>
              </a:rPr>
              <a:t>PrimaryV1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3999" y="4069079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3DBA7E"/>
                </a:solidFill>
                <a:latin typeface="Courier New"/>
              </a:rPr>
              <a:t>+1.51%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3999" y="4407407"/>
            <a:ext cx="2286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Courier New"/>
              </a:rPr>
              <a:t>188 won / 156 lost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489204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8EA4BD"/>
                </a:solidFill>
                <a:latin typeface="Courier New"/>
              </a:rPr>
              <a:t>BENCHMARK EXCESS METRICS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5212080"/>
            <a:ext cx="5303520" cy="105156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40080" y="5212080"/>
            <a:ext cx="45720" cy="1051560"/>
          </a:xfrm>
          <a:prstGeom prst="rect">
            <a:avLst/>
          </a:prstGeom>
          <a:solidFill>
            <a:srgbClr val="4A8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22960" y="5257800"/>
            <a:ext cx="2743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A8B8CC"/>
                </a:solidFill>
                <a:latin typeface="Courier New"/>
              </a:rPr>
              <a:t>CORRELATION TO EQUALWEIGHT25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5468112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0">
                <a:solidFill>
                  <a:srgbClr val="E8EDF5"/>
                </a:solidFill>
                <a:latin typeface="Georgia"/>
              </a:rPr>
              <a:t>0.528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5989320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A8B8CC"/>
                </a:solidFill>
                <a:latin typeface="Arial"/>
              </a:rPr>
              <a:t>Partial decoupling — driven by multi-signal composite, not just SPX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72200" y="5212080"/>
            <a:ext cx="5349240" cy="105156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172200" y="5212080"/>
            <a:ext cx="45720" cy="10515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355080" y="5257800"/>
            <a:ext cx="2743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A8B8CC"/>
                </a:solidFill>
                <a:latin typeface="Courier New"/>
              </a:rPr>
              <a:t>INFORMATION RATIO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55080" y="5468112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0">
                <a:solidFill>
                  <a:srgbClr val="C9A84C"/>
                </a:solidFill>
                <a:latin typeface="Georgia"/>
              </a:rPr>
              <a:t>0.21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5080" y="5989320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A8B8CC"/>
                </a:solidFill>
                <a:latin typeface="Arial"/>
              </a:rPr>
              <a:t>Active return vs tracking error — modest alpha relative to EqualWeight25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8EA4BD"/>
                </a:solidFill>
                <a:latin typeface="Courier New"/>
              </a:rPr>
              <a:t>PRIMARYV1 FRAMEWORK  |  EXECUTIVE BRIEFING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0" y="6446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8EA4BD"/>
                </a:solidFill>
                <a:latin typeface="Courier New"/>
              </a:rPr>
              <a:t>9 / 12</a:t>
            </a:r>
          </a:p>
        </p:txBody>
      </p:sp>
    </p:spTree>
    <p:extLst>
      <p:ext uri="{BB962C8B-B14F-4D97-AF65-F5344CB8AC3E}">
        <p14:creationId xmlns:p14="http://schemas.microsoft.com/office/powerpoint/2010/main" val="213937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C9A84C"/>
                </a:solidFill>
                <a:latin typeface="Courier New"/>
              </a:rPr>
              <a:t>08</a:t>
            </a:r>
            <a:r>
              <a:rPr sz="1100" b="0">
                <a:solidFill>
                  <a:srgbClr val="8EA4BD"/>
                </a:solidFill>
                <a:latin typeface="Courier New"/>
              </a:rPr>
              <a:t xml:space="preserve">  —  PERFORMANCE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0">
                <a:solidFill>
                  <a:srgbClr val="E8EDF5"/>
                </a:solidFill>
                <a:latin typeface="Georgia"/>
              </a:rPr>
              <a:t>Full Metrics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8EA4BD"/>
                </a:solidFill>
                <a:latin typeface="Courier New"/>
              </a:rPr>
              <a:t>SHARPE RATIO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1645920"/>
            <a:ext cx="4114800" cy="2560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972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A8B8CC"/>
                </a:solidFill>
                <a:latin typeface="Arial"/>
              </a:rPr>
              <a:t>PrimaryV1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645920"/>
            <a:ext cx="731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C9A84C"/>
                </a:solidFill>
                <a:latin typeface="Courier New"/>
              </a:rPr>
              <a:t>0.838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2029968"/>
            <a:ext cx="3771081" cy="256032"/>
          </a:xfrm>
          <a:prstGeom prst="rect">
            <a:avLst/>
          </a:prstGeom>
          <a:solidFill>
            <a:srgbClr val="A8B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029968"/>
            <a:ext cx="10972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A8B8CC"/>
                </a:solidFill>
                <a:latin typeface="Arial"/>
              </a:rPr>
              <a:t>60/40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91321" y="2029968"/>
            <a:ext cx="731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A8B8CC"/>
                </a:solidFill>
                <a:latin typeface="Courier New"/>
              </a:rPr>
              <a:t>0.768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2414016"/>
            <a:ext cx="3476465" cy="256032"/>
          </a:xfrm>
          <a:prstGeom prst="rect">
            <a:avLst/>
          </a:prstGeom>
          <a:solidFill>
            <a:srgbClr val="A8B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414016"/>
            <a:ext cx="10972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A8B8CC"/>
                </a:solidFill>
                <a:latin typeface="Arial"/>
              </a:rPr>
              <a:t>SimpleTrend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6705" y="2414016"/>
            <a:ext cx="731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A8B8CC"/>
                </a:solidFill>
                <a:latin typeface="Courier New"/>
              </a:rPr>
              <a:t>0.708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2798064"/>
            <a:ext cx="3378260" cy="256032"/>
          </a:xfrm>
          <a:prstGeom prst="rect">
            <a:avLst/>
          </a:prstGeom>
          <a:solidFill>
            <a:srgbClr val="A8B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2798064"/>
            <a:ext cx="10972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A8B8CC"/>
                </a:solidFill>
                <a:latin typeface="Arial"/>
              </a:rPr>
              <a:t>EW25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98500" y="2798064"/>
            <a:ext cx="731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A8B8CC"/>
                </a:solidFill>
                <a:latin typeface="Courier New"/>
              </a:rPr>
              <a:t>0.688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0" y="3182112"/>
            <a:ext cx="2941247" cy="256032"/>
          </a:xfrm>
          <a:prstGeom prst="rect">
            <a:avLst/>
          </a:prstGeom>
          <a:solidFill>
            <a:srgbClr val="A8B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3182112"/>
            <a:ext cx="10972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A8B8CC"/>
                </a:solidFill>
                <a:latin typeface="Arial"/>
              </a:rPr>
              <a:t>BuyHoldSPX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61487" y="3182112"/>
            <a:ext cx="731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A8B8CC"/>
                </a:solidFill>
                <a:latin typeface="Courier New"/>
              </a:rPr>
              <a:t>0.599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128016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8EA4BD"/>
                </a:solidFill>
                <a:latin typeface="Courier New"/>
              </a:rPr>
              <a:t>MAX DRAWDOWN COMPARISON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0" y="1645920"/>
            <a:ext cx="1536526" cy="2560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0" y="1645920"/>
            <a:ext cx="10972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A8B8CC"/>
                </a:solidFill>
                <a:latin typeface="Arial"/>
              </a:rPr>
              <a:t>PrimaryV1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0366" y="1645920"/>
            <a:ext cx="914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C9A84C"/>
                </a:solidFill>
                <a:latin typeface="Courier New"/>
              </a:rPr>
              <a:t>-22.08%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0" y="2029968"/>
            <a:ext cx="1871945" cy="256032"/>
          </a:xfrm>
          <a:prstGeom prst="rect">
            <a:avLst/>
          </a:prstGeom>
          <a:solidFill>
            <a:srgbClr val="A8B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0" y="2029968"/>
            <a:ext cx="10972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A8B8CC"/>
                </a:solidFill>
                <a:latin typeface="Arial"/>
              </a:rPr>
              <a:t>EW25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5785" y="2029968"/>
            <a:ext cx="914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A8B8CC"/>
                </a:solidFill>
                <a:latin typeface="Courier New"/>
              </a:rPr>
              <a:t>-26.90%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2414016"/>
            <a:ext cx="1859419" cy="256032"/>
          </a:xfrm>
          <a:prstGeom prst="rect">
            <a:avLst/>
          </a:prstGeom>
          <a:solidFill>
            <a:srgbClr val="A8B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0" y="2414016"/>
            <a:ext cx="10972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A8B8CC"/>
                </a:solidFill>
                <a:latin typeface="Arial"/>
              </a:rPr>
              <a:t>SimpleTrend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23259" y="2414016"/>
            <a:ext cx="914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A8B8CC"/>
                </a:solidFill>
                <a:latin typeface="Courier New"/>
              </a:rPr>
              <a:t>-26.72%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0" y="2798064"/>
            <a:ext cx="2141950" cy="256032"/>
          </a:xfrm>
          <a:prstGeom prst="rect">
            <a:avLst/>
          </a:prstGeom>
          <a:solidFill>
            <a:srgbClr val="A8B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83680" y="2798064"/>
            <a:ext cx="10972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A8B8CC"/>
                </a:solidFill>
                <a:latin typeface="Arial"/>
              </a:rPr>
              <a:t>60/40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05790" y="2798064"/>
            <a:ext cx="914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A8B8CC"/>
                </a:solidFill>
                <a:latin typeface="Courier New"/>
              </a:rPr>
              <a:t>-30.78%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3182112"/>
            <a:ext cx="3657600" cy="256032"/>
          </a:xfrm>
          <a:prstGeom prst="rect">
            <a:avLst/>
          </a:prstGeom>
          <a:solidFill>
            <a:srgbClr val="E0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83680" y="3182112"/>
            <a:ext cx="10972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A8B8CC"/>
                </a:solidFill>
                <a:latin typeface="Arial"/>
              </a:rPr>
              <a:t>BuyHoldSPX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58225" y="3182112"/>
            <a:ext cx="914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dirty="0">
                <a:solidFill>
                  <a:srgbClr val="E05B5B"/>
                </a:solidFill>
                <a:latin typeface="Courier New"/>
              </a:rPr>
              <a:t>-52.56%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3931920"/>
            <a:ext cx="2011680" cy="118872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40080" y="3931920"/>
            <a:ext cx="201168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49808" y="4069080"/>
            <a:ext cx="179222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A8B8CC"/>
                </a:solidFill>
                <a:latin typeface="Courier New"/>
              </a:rPr>
              <a:t>INFORMATION RATIO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4343400"/>
            <a:ext cx="1792224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0">
                <a:solidFill>
                  <a:srgbClr val="C9A84C"/>
                </a:solidFill>
                <a:latin typeface="Georgia"/>
              </a:rPr>
              <a:t>0.21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8" y="4800600"/>
            <a:ext cx="1792224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Arial"/>
              </a:rPr>
              <a:t>Alpha vs benchmark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80360" y="3931920"/>
            <a:ext cx="2011680" cy="118872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2880360" y="3931920"/>
            <a:ext cx="2011680" cy="36576"/>
          </a:xfrm>
          <a:prstGeom prst="rect">
            <a:avLst/>
          </a:prstGeom>
          <a:solidFill>
            <a:srgbClr val="3DB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990088" y="4069080"/>
            <a:ext cx="179222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A8B8CC"/>
                </a:solidFill>
                <a:latin typeface="Courier New"/>
              </a:rPr>
              <a:t>CUMULATIVE RETURN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90088" y="4343400"/>
            <a:ext cx="1792224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0">
                <a:solidFill>
                  <a:srgbClr val="3DBA7E"/>
                </a:solidFill>
                <a:latin typeface="Georgia"/>
              </a:rPr>
              <a:t>524%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90088" y="4800600"/>
            <a:ext cx="1792224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Arial"/>
              </a:rPr>
              <a:t>1996–2025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120640" y="3931920"/>
            <a:ext cx="2011680" cy="118872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120640" y="3931920"/>
            <a:ext cx="2011680" cy="36576"/>
          </a:xfrm>
          <a:prstGeom prst="rect">
            <a:avLst/>
          </a:prstGeom>
          <a:solidFill>
            <a:srgbClr val="4A8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230368" y="4069080"/>
            <a:ext cx="179222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A8B8CC"/>
                </a:solidFill>
                <a:latin typeface="Courier New"/>
              </a:rPr>
              <a:t>ANNUALIZED VOL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30368" y="4343400"/>
            <a:ext cx="1792224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0">
                <a:solidFill>
                  <a:srgbClr val="4A8CDB"/>
                </a:solidFill>
                <a:latin typeface="Georgia"/>
              </a:rPr>
              <a:t>7.70%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30368" y="4800600"/>
            <a:ext cx="1792224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Arial"/>
              </a:rPr>
              <a:t>Second-lowest (EW25 7.18%)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360920" y="3931920"/>
            <a:ext cx="2011680" cy="118872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360920" y="3931920"/>
            <a:ext cx="2011680" cy="36576"/>
          </a:xfrm>
          <a:prstGeom prst="rect">
            <a:avLst/>
          </a:prstGeom>
          <a:solidFill>
            <a:srgbClr val="E89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470648" y="4069080"/>
            <a:ext cx="179222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A8B8CC"/>
                </a:solidFill>
                <a:latin typeface="Courier New"/>
              </a:rPr>
              <a:t>WIN RATE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70648" y="4343400"/>
            <a:ext cx="1792224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0">
                <a:solidFill>
                  <a:srgbClr val="E8982A"/>
                </a:solidFill>
                <a:latin typeface="Georgia"/>
              </a:rPr>
              <a:t>65.08%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70648" y="4800600"/>
            <a:ext cx="1792224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Arial"/>
              </a:rPr>
              <a:t>Monthly positive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01200" y="3931920"/>
            <a:ext cx="2011680" cy="118872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9601200" y="3931920"/>
            <a:ext cx="2011680" cy="36576"/>
          </a:xfrm>
          <a:prstGeom prst="rect">
            <a:avLst/>
          </a:prstGeom>
          <a:solidFill>
            <a:srgbClr val="A8B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710928" y="4069080"/>
            <a:ext cx="179222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A8B8CC"/>
                </a:solidFill>
                <a:latin typeface="Courier New"/>
              </a:rPr>
              <a:t>CORREL. TO EW25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10928" y="4343400"/>
            <a:ext cx="1792224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0">
                <a:solidFill>
                  <a:srgbClr val="A8B8CC"/>
                </a:solidFill>
                <a:latin typeface="Georgia"/>
              </a:rPr>
              <a:t>0.528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710928" y="4800600"/>
            <a:ext cx="1792224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Arial"/>
              </a:rPr>
              <a:t>Partial decoupling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" y="5394960"/>
            <a:ext cx="10881360" cy="73152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640080" y="5394960"/>
            <a:ext cx="45720" cy="7315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22960" y="544068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A8B8CC"/>
                </a:solidFill>
                <a:latin typeface="Arial"/>
              </a:rPr>
              <a:t>PrimaryV1 achieves a 0.528 correlation to EqualWeight25 benchmark, generating an Information Ratio of 0.21.
This indicates modest active return relative to tracking error — the strategy provides regime-switching
value with partial decoupling from passive diversification.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8EA4BD"/>
                </a:solidFill>
                <a:latin typeface="Courier New"/>
              </a:rPr>
              <a:t>PRIMARYV1 FRAMEWORK  |  EXECUTIVE BRIEFING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01200" y="6446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8EA4BD"/>
                </a:solidFill>
                <a:latin typeface="Courier New"/>
              </a:rPr>
              <a:t>10 / 12</a:t>
            </a:r>
          </a:p>
        </p:txBody>
      </p:sp>
    </p:spTree>
    <p:extLst>
      <p:ext uri="{BB962C8B-B14F-4D97-AF65-F5344CB8AC3E}">
        <p14:creationId xmlns:p14="http://schemas.microsoft.com/office/powerpoint/2010/main" val="2225267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A8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C9A84C"/>
                </a:solidFill>
                <a:latin typeface="Courier New"/>
              </a:rPr>
              <a:t>09</a:t>
            </a:r>
            <a:r>
              <a:rPr sz="1100" b="0">
                <a:solidFill>
                  <a:srgbClr val="8EA4BD"/>
                </a:solidFill>
                <a:latin typeface="Courier New"/>
              </a:rPr>
              <a:t xml:space="preserve">  —  METHODOLOGY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0">
                <a:solidFill>
                  <a:srgbClr val="E8EDF5"/>
                </a:solidFill>
                <a:latin typeface="Georgia"/>
              </a:rPr>
              <a:t>Testing Integrity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5943600" cy="41148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36576" cy="411480"/>
          </a:xfrm>
          <a:prstGeom prst="rect">
            <a:avLst/>
          </a:prstGeom>
          <a:solidFill>
            <a:srgbClr val="3DB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261872"/>
            <a:ext cx="2286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E8EDF5"/>
                </a:solidFill>
                <a:latin typeface="Arial"/>
              </a:rPr>
              <a:t>Z-Score Leakage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44752"/>
            <a:ext cx="5486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A8B8CC"/>
                </a:solidFill>
                <a:latin typeface="Arial"/>
              </a:rPr>
              <a:t>Prefix invariance verified — future rows do not alter past z-scores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307592"/>
            <a:ext cx="822960" cy="256032"/>
          </a:xfrm>
          <a:prstGeom prst="roundRect">
            <a:avLst/>
          </a:prstGeom>
          <a:solidFill>
            <a:srgbClr val="0B0F1A"/>
          </a:solidFill>
          <a:ln w="12700">
            <a:solidFill>
              <a:srgbClr val="3DB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577840" y="1325880"/>
            <a:ext cx="822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3DBA7E"/>
                </a:solidFill>
                <a:latin typeface="Courier New"/>
              </a:rPr>
              <a:t>PASSED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737360"/>
            <a:ext cx="5943600" cy="41148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1737360"/>
            <a:ext cx="36576" cy="411480"/>
          </a:xfrm>
          <a:prstGeom prst="rect">
            <a:avLst/>
          </a:prstGeom>
          <a:solidFill>
            <a:srgbClr val="3DB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1764792"/>
            <a:ext cx="2286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E8EDF5"/>
                </a:solidFill>
                <a:latin typeface="Arial"/>
              </a:rPr>
              <a:t>Point-in-Time Transforms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947672"/>
            <a:ext cx="5486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A8B8CC"/>
                </a:solidFill>
                <a:latin typeface="Arial"/>
              </a:rPr>
              <a:t>Decision at t, realization at t+1, min train window 120 months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77840" y="1810512"/>
            <a:ext cx="822960" cy="256032"/>
          </a:xfrm>
          <a:prstGeom prst="roundRect">
            <a:avLst/>
          </a:prstGeom>
          <a:solidFill>
            <a:srgbClr val="0B0F1A"/>
          </a:solidFill>
          <a:ln w="12700">
            <a:solidFill>
              <a:srgbClr val="3DB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77840" y="1828800"/>
            <a:ext cx="822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3DBA7E"/>
                </a:solidFill>
                <a:latin typeface="Courier New"/>
              </a:rPr>
              <a:t>PASSED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240280"/>
            <a:ext cx="5943600" cy="41148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2240280"/>
            <a:ext cx="36576" cy="411480"/>
          </a:xfrm>
          <a:prstGeom prst="rect">
            <a:avLst/>
          </a:prstGeom>
          <a:solidFill>
            <a:srgbClr val="3DB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2267712"/>
            <a:ext cx="2286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E8EDF5"/>
                </a:solidFill>
                <a:latin typeface="Arial"/>
              </a:rPr>
              <a:t>Walk-Forward Strict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2450592"/>
            <a:ext cx="5486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A8B8CC"/>
                </a:solidFill>
                <a:latin typeface="Arial"/>
              </a:rPr>
              <a:t>Strict WF produced 5.58% ann. return, Sharpe 0.729 — delta 0.000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77840" y="2313432"/>
            <a:ext cx="822960" cy="256032"/>
          </a:xfrm>
          <a:prstGeom prst="roundRect">
            <a:avLst/>
          </a:prstGeom>
          <a:solidFill>
            <a:srgbClr val="0B0F1A"/>
          </a:solidFill>
          <a:ln w="12700">
            <a:solidFill>
              <a:srgbClr val="3DB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577840" y="2331720"/>
            <a:ext cx="822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3DBA7E"/>
                </a:solidFill>
                <a:latin typeface="Courier New"/>
              </a:rPr>
              <a:t>PASSED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743200"/>
            <a:ext cx="5943600" cy="41148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" y="2743200"/>
            <a:ext cx="36576" cy="411480"/>
          </a:xfrm>
          <a:prstGeom prst="rect">
            <a:avLst/>
          </a:prstGeom>
          <a:solidFill>
            <a:srgbClr val="3DB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2770632"/>
            <a:ext cx="2286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E8EDF5"/>
                </a:solidFill>
                <a:latin typeface="Arial"/>
              </a:rPr>
              <a:t>Robustness Under Friction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2953512"/>
            <a:ext cx="5486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A8B8CC"/>
                </a:solidFill>
                <a:latin typeface="Arial"/>
              </a:rPr>
              <a:t>Returns positive from 0 to 50 bps (6.33% to 5.13%)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577840" y="2816352"/>
            <a:ext cx="822960" cy="256032"/>
          </a:xfrm>
          <a:prstGeom prst="roundRect">
            <a:avLst/>
          </a:prstGeom>
          <a:solidFill>
            <a:srgbClr val="0B0F1A"/>
          </a:solidFill>
          <a:ln w="12700">
            <a:solidFill>
              <a:srgbClr val="3DB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577840" y="2834640"/>
            <a:ext cx="822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3DBA7E"/>
                </a:solidFill>
                <a:latin typeface="Courier New"/>
              </a:rPr>
              <a:t>PASSED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246120"/>
            <a:ext cx="5943600" cy="41148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0080" y="3246120"/>
            <a:ext cx="36576" cy="411480"/>
          </a:xfrm>
          <a:prstGeom prst="rect">
            <a:avLst/>
          </a:prstGeom>
          <a:solidFill>
            <a:srgbClr val="3DB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7240" y="3273552"/>
            <a:ext cx="2286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E8EDF5"/>
                </a:solidFill>
                <a:latin typeface="Arial"/>
              </a:rPr>
              <a:t>Reproducibility Hashes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3456432"/>
            <a:ext cx="5486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A8B8CC"/>
                </a:solidFill>
                <a:latin typeface="Arial"/>
              </a:rPr>
              <a:t>Full manifest saved in validation_manifest.json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577840" y="3319272"/>
            <a:ext cx="822960" cy="256032"/>
          </a:xfrm>
          <a:prstGeom prst="roundRect">
            <a:avLst/>
          </a:prstGeom>
          <a:solidFill>
            <a:srgbClr val="0B0F1A"/>
          </a:solidFill>
          <a:ln w="12700">
            <a:solidFill>
              <a:srgbClr val="3DB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577840" y="3337560"/>
            <a:ext cx="822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3DBA7E"/>
                </a:solidFill>
                <a:latin typeface="Courier New"/>
              </a:rPr>
              <a:t>PASSED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3840480"/>
            <a:ext cx="2286000" cy="365760"/>
          </a:xfrm>
          <a:prstGeom prst="roundRect">
            <a:avLst/>
          </a:prstGeom>
          <a:solidFill>
            <a:srgbClr val="1A2236"/>
          </a:solidFill>
          <a:ln w="12700">
            <a:solidFill>
              <a:srgbClr val="3DB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" y="3858768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3DBA7E"/>
                </a:solidFill>
                <a:latin typeface="Courier New"/>
              </a:rPr>
              <a:t>PYTEST SUITE: 25/25 PASSED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1234440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8EA4BD"/>
                </a:solidFill>
                <a:latin typeface="Courier New"/>
              </a:rPr>
              <a:t>COST STRESS TEST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49440" y="1554480"/>
            <a:ext cx="4846320" cy="274320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040880" y="1581912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8EA4BD"/>
                </a:solidFill>
                <a:latin typeface="Courier New"/>
              </a:rPr>
              <a:t>Cost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1581912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8EA4BD"/>
                </a:solidFill>
                <a:latin typeface="Courier New"/>
              </a:rPr>
              <a:t>Return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18320" y="1581912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8EA4BD"/>
                </a:solidFill>
                <a:latin typeface="Courier New"/>
              </a:rPr>
              <a:t>Sharpe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07040" y="1581912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8EA4BD"/>
                </a:solidFill>
                <a:latin typeface="Courier New"/>
              </a:rPr>
              <a:t>Max DD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49440" y="1874519"/>
            <a:ext cx="4846320" cy="301752"/>
          </a:xfrm>
          <a:prstGeom prst="rect">
            <a:avLst/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040880" y="1911095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C9A84C"/>
                </a:solidFill>
                <a:latin typeface="Courier New"/>
              </a:rPr>
              <a:t>0 bps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1911095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C9A84C"/>
                </a:solidFill>
                <a:latin typeface="Courier New"/>
              </a:rPr>
              <a:t>6.33%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18320" y="1911095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C9A84C"/>
                </a:solidFill>
                <a:latin typeface="Courier New"/>
              </a:rPr>
              <a:t>0.838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07040" y="1911095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C9A84C"/>
                </a:solidFill>
                <a:latin typeface="Courier New"/>
              </a:rPr>
              <a:t>-22.08%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949440" y="2221991"/>
            <a:ext cx="4846320" cy="301752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040880" y="2258568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Courier New"/>
              </a:rPr>
              <a:t>5 bps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0" y="2258568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Courier New"/>
              </a:rPr>
              <a:t>6.21%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18320" y="2258568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Courier New"/>
              </a:rPr>
              <a:t>0.823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07040" y="2258568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Courier New"/>
              </a:rPr>
              <a:t>-22.39%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949440" y="2569463"/>
            <a:ext cx="4846320" cy="301752"/>
          </a:xfrm>
          <a:prstGeom prst="rect">
            <a:avLst/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040880" y="2606039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Courier New"/>
              </a:rPr>
              <a:t>10 bps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0" y="2606039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Courier New"/>
              </a:rPr>
              <a:t>6.09%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18320" y="2606039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Courier New"/>
              </a:rPr>
              <a:t>0.808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607040" y="2606039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Courier New"/>
              </a:rPr>
              <a:t>-22.71%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949440" y="2916936"/>
            <a:ext cx="4846320" cy="301752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040880" y="2953512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Courier New"/>
              </a:rPr>
              <a:t>25 bps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29600" y="2953512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Courier New"/>
              </a:rPr>
              <a:t>5.73%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18320" y="2953512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Courier New"/>
              </a:rPr>
              <a:t>0.763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607040" y="2953512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Courier New"/>
              </a:rPr>
              <a:t>-23.63%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949440" y="3264408"/>
            <a:ext cx="4846320" cy="301752"/>
          </a:xfrm>
          <a:prstGeom prst="rect">
            <a:avLst/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040880" y="3300984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Courier New"/>
              </a:rPr>
              <a:t>50 bps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29600" y="3300984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Courier New"/>
              </a:rPr>
              <a:t>5.13%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418320" y="3300984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Courier New"/>
              </a:rPr>
              <a:t>0.686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607040" y="3300984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Courier New"/>
              </a:rPr>
              <a:t>-25.16%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49440" y="3749039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8EA4BD"/>
                </a:solidFill>
                <a:latin typeface="Courier New"/>
              </a:rPr>
              <a:t>WALK-FORWARD vs STANDARD CAUSAL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949440" y="4069080"/>
            <a:ext cx="4846320" cy="384048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040880" y="4114800"/>
            <a:ext cx="1828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E8EDF5"/>
                </a:solidFill>
                <a:latin typeface="Arial"/>
              </a:rPr>
              <a:t>WalkForwardStrict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869680" y="4114800"/>
            <a:ext cx="822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Courier New"/>
              </a:rPr>
              <a:t>5.58%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692640" y="4114800"/>
            <a:ext cx="822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Courier New"/>
              </a:rPr>
              <a:t>0.729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515600" y="4114800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E05B5B"/>
                </a:solidFill>
                <a:latin typeface="Courier New"/>
              </a:rPr>
              <a:t>-22.08%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949440" y="4526280"/>
            <a:ext cx="4846320" cy="384048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040880" y="4572000"/>
            <a:ext cx="1828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8EA4BD"/>
                </a:solidFill>
                <a:latin typeface="Arial"/>
              </a:rPr>
              <a:t>StandardCausal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869680" y="4572000"/>
            <a:ext cx="822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Courier New"/>
              </a:rPr>
              <a:t>5.58%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692640" y="4572000"/>
            <a:ext cx="822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8B8CC"/>
                </a:solidFill>
                <a:latin typeface="Courier New"/>
              </a:rPr>
              <a:t>0.729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515600" y="4572000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E05B5B"/>
                </a:solidFill>
                <a:latin typeface="Courier New"/>
              </a:rPr>
              <a:t>-22.08%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949440" y="5029200"/>
            <a:ext cx="3200400" cy="320040"/>
          </a:xfrm>
          <a:prstGeom prst="roundRect">
            <a:avLst/>
          </a:prstGeom>
          <a:solidFill>
            <a:srgbClr val="1A2236"/>
          </a:solidFill>
          <a:ln w="12700">
            <a:solidFill>
              <a:srgbClr val="3DB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7040880" y="5047488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3DBA7E"/>
                </a:solidFill>
                <a:latin typeface="Courier New"/>
              </a:rPr>
              <a:t>Delta = 0.000 — Zero look-ahead bias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40080" y="5577840"/>
            <a:ext cx="10881360" cy="594360"/>
          </a:xfrm>
          <a:prstGeom prst="rect">
            <a:avLst/>
          </a:prstGeom>
          <a:solidFill>
            <a:srgbClr val="1A2236"/>
          </a:solidFill>
          <a:ln w="12700">
            <a:solidFill>
              <a:srgbClr val="E89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640080" y="5577840"/>
            <a:ext cx="45720" cy="594360"/>
          </a:xfrm>
          <a:prstGeom prst="rect">
            <a:avLst/>
          </a:prstGeom>
          <a:solidFill>
            <a:srgbClr val="E89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22960" y="5623560"/>
            <a:ext cx="274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E8982A"/>
                </a:solidFill>
                <a:latin typeface="Arial"/>
              </a:rPr>
              <a:t>⚠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97280" y="5623560"/>
            <a:ext cx="102412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A8B8CC"/>
                </a:solidFill>
                <a:latin typeface="Arial"/>
              </a:rPr>
              <a:t>Interpretation Guardrail: The best robustness scenario (Sharpe 0.963 under alternative thresholds/duration) is
diagnostic only. Final reported production metrics remain based on the default PrimaryV1 configuration.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8EA4BD"/>
                </a:solidFill>
                <a:latin typeface="Courier New"/>
              </a:rPr>
              <a:t>PRIMARYV1 FRAMEWORK  |  EXECUTIVE BRIEFING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601200" y="6446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8EA4BD"/>
                </a:solidFill>
                <a:latin typeface="Courier New"/>
              </a:rPr>
              <a:t>11 / 12</a:t>
            </a:r>
          </a:p>
        </p:txBody>
      </p:sp>
    </p:spTree>
    <p:extLst>
      <p:ext uri="{BB962C8B-B14F-4D97-AF65-F5344CB8AC3E}">
        <p14:creationId xmlns:p14="http://schemas.microsoft.com/office/powerpoint/2010/main" val="27080295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C9A84C"/>
                </a:solidFill>
                <a:latin typeface="Courier New"/>
              </a:rPr>
              <a:t>10</a:t>
            </a:r>
            <a:r>
              <a:rPr sz="1100" b="0">
                <a:solidFill>
                  <a:srgbClr val="8EA4BD"/>
                </a:solidFill>
                <a:latin typeface="Courier New"/>
              </a:rPr>
              <a:t xml:space="preserve">  — 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0">
                <a:solidFill>
                  <a:srgbClr val="E8EDF5"/>
                </a:solidFill>
                <a:latin typeface="Georgia"/>
              </a:rPr>
              <a:t>Strategic Recommendation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3383280" cy="146304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338328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E8EDF5"/>
                </a:solidFill>
                <a:latin typeface="Arial"/>
              </a:rPr>
              <a:t>Best Risk-Adjusted Return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31089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A8B8CC"/>
                </a:solidFill>
                <a:latin typeface="Arial"/>
              </a:rPr>
              <a:t>Sharpe 0.838 — highest across all 5 strategies tested over the 1996–2025 sample, 358 evaluated monthly periods (~29.8 years).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463040"/>
            <a:ext cx="3383280" cy="146304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463040"/>
            <a:ext cx="3383280" cy="36576"/>
          </a:xfrm>
          <a:prstGeom prst="rect">
            <a:avLst/>
          </a:prstGeom>
          <a:solidFill>
            <a:srgbClr val="3DB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60" y="160020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E8EDF5"/>
                </a:solidFill>
                <a:latin typeface="Arial"/>
              </a:rPr>
              <a:t>Lowest Drawdown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920240"/>
            <a:ext cx="31089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A8B8CC"/>
                </a:solidFill>
                <a:latin typeface="Arial"/>
              </a:rPr>
              <a:t>Max -22.08% vs -52.56% for pure equity. Capital preservation proven in all major market crises.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19" y="1463040"/>
            <a:ext cx="3383280" cy="146304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19" y="1463040"/>
            <a:ext cx="3383280" cy="36576"/>
          </a:xfrm>
          <a:prstGeom prst="rect">
            <a:avLst/>
          </a:prstGeom>
          <a:solidFill>
            <a:srgbClr val="4A8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83879" y="160020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E8EDF5"/>
                </a:solidFill>
                <a:latin typeface="Arial"/>
              </a:rPr>
              <a:t>Robust Signal Generation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1920240"/>
            <a:ext cx="31089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A8B8CC"/>
                </a:solidFill>
                <a:latin typeface="Arial"/>
              </a:rPr>
              <a:t>4-factor continuous composite score with 95.8% active trade rate. Win rate 65.08% over 358 evaluated return periods.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154680"/>
            <a:ext cx="3383280" cy="146304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3154680"/>
            <a:ext cx="3383280" cy="36576"/>
          </a:xfrm>
          <a:prstGeom prst="rect">
            <a:avLst/>
          </a:prstGeom>
          <a:solidFill>
            <a:srgbClr val="E89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329184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E8EDF5"/>
                </a:solidFill>
                <a:latin typeface="Arial"/>
              </a:rPr>
              <a:t>Validation Integrity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611880"/>
            <a:ext cx="31089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A8B8CC"/>
                </a:solidFill>
                <a:latin typeface="Arial"/>
              </a:rPr>
              <a:t>Pytest suite 25/25 passed. Walk-forward delta 0.000. Zero look-ahead bias confirmed with reproducibility hashes.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3154680"/>
            <a:ext cx="3383280" cy="146304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43400" y="3154680"/>
            <a:ext cx="3383280" cy="36576"/>
          </a:xfrm>
          <a:prstGeom prst="rect">
            <a:avLst/>
          </a:prstGeom>
          <a:solidFill>
            <a:srgbClr val="A8B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80560" y="329184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E8EDF5"/>
                </a:solidFill>
                <a:latin typeface="Arial"/>
              </a:rPr>
              <a:t>Cost Resilient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3611880"/>
            <a:ext cx="31089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A8B8CC"/>
                </a:solidFill>
                <a:latin typeface="Arial"/>
              </a:rPr>
              <a:t>Ann. return stays positive (5.13%) even at 50 bps transaction costs. Turnover 0.189 compatible with monthly rebalancing.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19" y="3154680"/>
            <a:ext cx="3383280" cy="1463040"/>
          </a:xfrm>
          <a:prstGeom prst="rect">
            <a:avLst/>
          </a:prstGeom>
          <a:solidFill>
            <a:srgbClr val="1A2236"/>
          </a:solidFill>
          <a:ln w="12700">
            <a:solidFill>
              <a:srgbClr val="2A3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46719" y="3154680"/>
            <a:ext cx="338328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83879" y="329184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E8EDF5"/>
                </a:solidFill>
                <a:latin typeface="Arial"/>
              </a:rPr>
              <a:t>Ready for Extension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3611880"/>
            <a:ext cx="31089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A8B8CC"/>
                </a:solidFill>
                <a:latin typeface="Arial"/>
              </a:rPr>
              <a:t>Stable primary layer — architected for M2 meta-labeling overlay. Move to external validation before live deployment.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754880"/>
            <a:ext cx="10881360" cy="822960"/>
          </a:xfrm>
          <a:prstGeom prst="rect">
            <a:avLst/>
          </a:prstGeom>
          <a:solidFill>
            <a:srgbClr val="1A2236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0080" y="4754880"/>
            <a:ext cx="45720" cy="8229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480060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C9A84C"/>
                </a:solidFill>
                <a:latin typeface="Courier New"/>
              </a:rPr>
              <a:t>PrimaryV1 RECOMMENDATION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07492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A8B8CC"/>
                </a:solidFill>
                <a:latin typeface="Arial"/>
              </a:rPr>
              <a:t>Achieved the highest Sharpe (0.838) and shallowest Drawdown (-22.08%) in the benchmark universe using a robust,
4-factor continuous composite score. Proceed to M2 meta-labeling phase with external validation.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01200" y="5806440"/>
            <a:ext cx="1920240" cy="365760"/>
          </a:xfrm>
          <a:prstGeom prst="roundRect">
            <a:avLst/>
          </a:prstGeom>
          <a:solidFill>
            <a:srgbClr val="1A2236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692640" y="5824728"/>
            <a:ext cx="17373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C9A84C"/>
                </a:solidFill>
                <a:latin typeface="Courier New"/>
              </a:rPr>
              <a:t>PrimaryV1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8EA4BD"/>
                </a:solidFill>
                <a:latin typeface="Courier New"/>
              </a:rPr>
              <a:t>PRIMARYV1 FRAMEWORK  |  EXECUTIVE BRIEFING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6446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8EA4BD"/>
                </a:solidFill>
                <a:latin typeface="Courier New"/>
              </a:rPr>
              <a:t>12 / 12</a:t>
            </a:r>
          </a:p>
        </p:txBody>
      </p:sp>
    </p:spTree>
    <p:extLst>
      <p:ext uri="{BB962C8B-B14F-4D97-AF65-F5344CB8AC3E}">
        <p14:creationId xmlns:p14="http://schemas.microsoft.com/office/powerpoint/2010/main" val="2771690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?>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B4F1B3D-B7E7-4482-98BF-4DB7F640F141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1891</Words>
  <Application>Microsoft Office PowerPoint</Application>
  <PresentationFormat>Widescreen</PresentationFormat>
  <Paragraphs>420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Cristhian Paul Paredes Mayacela</dc:creator>
  <cp:keywords/>
  <dc:description>generated using python-pptx</dc:description>
  <cp:lastModifiedBy>Cristhian Paul Paredes Mayacela</cp:lastModifiedBy>
  <cp:revision>3</cp:revision>
  <dcterms:created xsi:type="dcterms:W3CDTF">2013-01-27T09:14:16Z</dcterms:created>
  <dcterms:modified xsi:type="dcterms:W3CDTF">2026-02-23T00:31:21Z</dcterms:modified>
  <cp:category/>
</cp:coreProperties>
</file>